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7c83825-4df3-ad31-bb31-0d316cd76592}">
          <p14:sldIdLst>
            <p14:sldId id="256"/>
            <p14:sldId id="257"/>
            <p14:sldId id="258"/>
          </p14:sldIdLst>
        </p14:section>
        <p14:section name="Background" id="{3bdc46f5-01b5-e308-8a24-bc2dcacf10bd}">
          <p14:sldIdLst>
            <p14:sldId id="259"/>
            <p14:sldId id="260"/>
          </p14:sldIdLst>
        </p14:section>
        <p14:section name="Design" id="{797f8180-cbab-feaa-f4d7-db9dc3a13ddf}">
          <p14:sldIdLst>
            <p14:sldId id="261"/>
            <p14:sldId id="262"/>
            <p14:sldId id="263"/>
          </p14:sldIdLst>
        </p14:section>
        <p14:section name="Status" id="{25987693-b363-0b71-92b6-4c58034b6056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goal: generate three-address code for if, if-else and while in a single pass, filling every jump target by backpatching.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103: it is created empty because the end of the if is not known yet. Backpatching keeps 103 on a list and writes 105 into it once the if statement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objectives, one per rubric item. Review 1 covers objective 1 for assignment and if, objective 2 fully, and objective 4 for syntax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 et al. is the baseline: our rules are copied from sec. 6.7. Appel is the alternative design. Lattner and Adve show how a production compiler handles forward branches. JFLAP motivates the trace viewer planned as the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the scheme itself is not new. The novelty is visibility: the trace mode and viewer in Reviews 2 and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tree and no second pass. The highlighted module, patch lists, is the core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is an empty production so that its reduction captures nextinstr exactly where the next statement's code begins. All rules from Aho sec. 6.7 are in the grammar; Review 1 implements the actions shown here. If asked about N: in the textbook form N comes before else, which gives Bison a reduce/reduce conflict between N and the else-less if. Moving N after else keeps the generated code identical, because nothing is emitted while shifting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structure lives in its own file so individual contributions are easy to show. backpatch() refuses to fill a quad that is not an unfilled jump, which catches wrong semantic actions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make test, then ./icg tests/02_if.src. Point at 103: it was emitted as goto _ and received 105 only when the program rule backpatched the final nextlist. Unimplemented constructs stop with 'not implemented yet' rather than printing wrong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be ready for:
- Why not labels and a second pass? Backpatching needs one pass and no label table; the cost is holding lists of pending jumps.
- What is in a truelist? Indices of quads whose target should be where control goes if B is true.
- Why is M an empty production? Its reduction captures nextinstr exactly where the next code begins.
- Why does if-else need N? The then-branch must jump over the else-branch, and that target is not known yet.
- Dangling else? Precedence declarations; else binds to the nearest if.
- A jump nobody patches? A bug: the final halt backpatch leaves none, and run_tests.sh fails any output containing goto _.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Subtitle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BCSE307P  ·  ICG with Backpatching  · 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ICG with Backpatching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One-pass three-address code for if, if-else and while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Prithvi Raghu  ·  24BCE2624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[Member 2 name  ·  Reg. No.]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[Member 3 name  ·  Reg. No.]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BCSE307P Compiler Design Lab  ·  Review 1  ·  9 October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Faculty: Dr. Naga Priyadarsini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jumps have unknown targets in one pass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parser emits code as it reads. At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it must emit the jump taken when the condition is false.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That jump should land after the then-branch, whose code does not exist yet.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Two ways out: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Emit symbolic labels and resolve them in a second pass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Remember the empty jump and fill it once the target is known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second is backpatching.</a:t>
            </a:r>
            <a:endParaRPr lang="en-US" sz="1800" dirty="0"/>
          </a:p>
        </p:txBody>
      </p:sp>
      <p:sp>
        <p:nvSpPr>
          <p:cNvPr id="4" name="problem code"/>
          <p:cNvSpPr/>
          <p:nvPr/>
        </p:nvSpPr>
        <p:spPr>
          <a:xfrm>
            <a:off x="6400800" y="1463040"/>
            <a:ext cx="521208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0" y="1691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a + b;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 y = c;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_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_      ← where?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4937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When 103 is emitted, quad 105 has not been generated.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objectiv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Correct three-address code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if, if-else, while and any nesting of them, as numbered quadruples with no goto _ left unfilled.</a:t>
            </a:r>
            <a:endParaRPr lang="en-US" sz="1500" dirty="0"/>
          </a:p>
        </p:txBody>
      </p:sp>
      <p:sp>
        <p:nvSpPr>
          <p:cNvPr id="7" name="objective 2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 single pass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Code is emitted while parsing; every jump target is filled by backpatching, with no label-resolution pass.</a:t>
            </a:r>
            <a:endParaRPr lang="en-US" sz="1500" dirty="0"/>
          </a:p>
        </p:txBody>
      </p:sp>
      <p:sp>
        <p:nvSpPr>
          <p:cNvPr id="11" name="objective 3"/>
          <p:cNvSpPr/>
          <p:nvPr/>
        </p:nvSpPr>
        <p:spPr>
          <a:xfrm>
            <a:off x="54864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Short-circuit booleans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&amp;&amp;, || and ! compile to jumps, so the right operand is skipped once the result is known.</a:t>
            </a:r>
            <a:endParaRPr lang="en-US" sz="1500" dirty="0"/>
          </a:p>
        </p:txBody>
      </p:sp>
      <p:sp>
        <p:nvSpPr>
          <p:cNvPr id="15" name="objective 4"/>
          <p:cNvSpPr/>
          <p:nvPr/>
        </p:nvSpPr>
        <p:spPr>
          <a:xfrm>
            <a:off x="617220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Clear error reporting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Syntax and lexical errors are reported with their line number instead of crashing.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822960"/>
                <a:gridCol w="5120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Year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we take from it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Aho, Lam, Sethi, Ullman, Compilers: Principles, Techniques, and Tools,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translation scheme we implement (sec. 6.7): truelist, falselist, M and 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Appel, Modern Compiler Implementation in C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1998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Symbolic labels resolved later; the main alternative and our planned baseline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Cooper and Torczon, Engineering a Compiler,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Short-circuit evaluation and standard control-flow code shapes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Levine, flex &amp; bison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%union, empty rules, precedence for the dangling else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Lattner and Adve, LLVM, CGO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2004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Basic blocks created ahead, terminators set later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Rodger and Finley, JFLAP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Precedent for visual tools in theory courses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resolve forward jumps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  <a:gridCol w="2834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Two-pass, symbolic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Backpatching (ours)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Basic-block IR (LLVM)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Passes over code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 emit, then resolve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 filled during parsing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to build blocks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Memory for pending jumps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Label table + all code held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Lists of unfilled jump indices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Block objects + CFG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Fit with Bison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Easy, but needs a second pass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Natural: empty markers M and 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Heavy: needs an IR framework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gap statement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chemeClr val="accent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 gap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Backpatching is textbook material, but its patch lists stay invisible: students see the finished code, not the moment each jump is created empty and later filled. Few student tools make the lists visible while code is generated.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pass, no separate IR pass</a:t>
            </a:r>
            <a:endParaRPr lang="en-US" sz="3400" dirty="0"/>
          </a:p>
        </p:txBody>
      </p:sp>
      <p:sp>
        <p:nvSpPr>
          <p:cNvPr id="3" name="stage Source program"/>
          <p:cNvSpPr/>
          <p:nvPr/>
        </p:nvSpPr>
        <p:spPr>
          <a:xfrm>
            <a:off x="54864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Source program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C-like subset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if / else / while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752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" name="stage Lexer (Flex)"/>
          <p:cNvSpPr/>
          <p:nvPr/>
        </p:nvSpPr>
        <p:spPr>
          <a:xfrm>
            <a:off x="338328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Lexer (Flex)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+ line no.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lexer.l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216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" name="stage Parser (Bison)"/>
          <p:cNvSpPr/>
          <p:nvPr/>
        </p:nvSpPr>
        <p:spPr>
          <a:xfrm>
            <a:off x="621792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Parser (Bison)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grammar + M, N markers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parser.y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5" name="stage Output"/>
          <p:cNvSpPr/>
          <p:nvPr/>
        </p:nvSpPr>
        <p:spPr>
          <a:xfrm>
            <a:off x="905256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5256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Output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TAC or quad 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main.c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0" cy="6858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3429000"/>
            <a:ext cx="58521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semantic actions call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2" name="module Symbol table"/>
          <p:cNvSpPr/>
          <p:nvPr/>
        </p:nvSpPr>
        <p:spPr>
          <a:xfrm>
            <a:off x="306324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06324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Symbol table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0632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symtab.c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lookup / insert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6" name="module Quad table"/>
          <p:cNvSpPr/>
          <p:nvPr/>
        </p:nvSpPr>
        <p:spPr>
          <a:xfrm>
            <a:off x="598932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8932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Quad table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98932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quad.c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emit(), newtemp()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30" name="module Patch lists"/>
          <p:cNvSpPr/>
          <p:nvPr/>
        </p:nvSpPr>
        <p:spPr>
          <a:xfrm>
            <a:off x="891540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1540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Patch lists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backpatch.c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makelist, merge, backpatch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Each rule's action emits quadruples as it reduces. A jump is emitted with an empty target and its index stored in a patch list; the list is filled the moment a marker M supplies the instruction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scheme for B and if</a:t>
            </a:r>
            <a:endParaRPr lang="en-US" sz="3400" dirty="0"/>
          </a:p>
        </p:txBody>
      </p:sp>
      <p:sp>
        <p:nvSpPr>
          <p:cNvPr id="3" name="boolean rules"/>
          <p:cNvSpPr/>
          <p:nvPr/>
        </p:nvSpPr>
        <p:spPr>
          <a:xfrm>
            <a:off x="548640" y="1371600"/>
            <a:ext cx="52120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→ E1 relop E2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B.truelist  = makelist(nextinstr)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B.falselist = makelist(nextinstr+1)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emit("if E1 relop E2 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→ ε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M.instr = nextinstr</a:t>
            </a:r>
            <a:endParaRPr lang="en-US" sz="1500" dirty="0"/>
          </a:p>
        </p:txBody>
      </p:sp>
      <p:sp>
        <p:nvSpPr>
          <p:cNvPr id="5" name="statement rules"/>
          <p:cNvSpPr/>
          <p:nvPr/>
        </p:nvSpPr>
        <p:spPr>
          <a:xfrm>
            <a:off x="6035040" y="1371600"/>
            <a:ext cx="557784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0" y="160020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→ if ( B ) M S1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backpatch(B.truelist,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S.nextlist = merge(B.falselist,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S1.nextlist)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→ L1 M 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backpatch(L1.nextlist,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L.nextlist = S.nextlist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→ 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backpatch(L.nextlist, 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emit("halt")</a:t>
            </a:r>
            <a:endParaRPr lang="en-US" sz="1500" dirty="0"/>
          </a:p>
        </p:txBody>
      </p:sp>
      <p:sp>
        <p:nvSpPr>
          <p:cNvPr id="7" name="dangling else note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8006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Dangling else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%nonassoc LOWER_THAN_ELSE / ELSE makes else bind to the nearest if; %expect 0 makes the build fail on any conflict. N is placed after else so the choice is shift/reduce, which precedence can resolve, not reduce/reduce.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data structures carry the generator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15544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Structure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Fields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Quadruple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kind, op, arg1, arg2, result, target (-1 until filled)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growable array; nextinstr starts at 100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Patch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array of quad indices; NULL is the empty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backpatch.c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Symbol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name, type, first-seen line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symtab.c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Temp generator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newtemp() returns t1, t2, ...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union"/>
          <p:cNvSpPr/>
          <p:nvPr/>
        </p:nvSpPr>
        <p:spPr>
          <a:xfrm>
            <a:off x="7863840" y="137160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6002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%union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char      *addr;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BoolLists  b;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PatchList *nextlist;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       instr;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425196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truelist + falselist for 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nextlist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S, L and 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assignment and if work end to end</a:t>
            </a:r>
            <a:endParaRPr lang="en-US" sz="3400" dirty="0"/>
          </a:p>
        </p:txBody>
      </p:sp>
      <p:sp>
        <p:nvSpPr>
          <p:cNvPr id="3" name="stat grammar conflicts"/>
          <p:cNvSpPr/>
          <p:nvPr/>
        </p:nvSpPr>
        <p:spPr>
          <a:xfrm>
            <a:off x="54864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grammar conflicts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construct parses</a:t>
            </a:r>
            <a:endParaRPr lang="en-US" sz="1200" dirty="0"/>
          </a:p>
        </p:txBody>
      </p:sp>
      <p:sp>
        <p:nvSpPr>
          <p:cNvPr id="7" name="stat test programs pass"/>
          <p:cNvSpPr/>
          <p:nvPr/>
        </p:nvSpPr>
        <p:spPr>
          <a:xfrm>
            <a:off x="429768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 programs pass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01_assign, 02_if</a:t>
            </a:r>
            <a:endParaRPr lang="en-US" sz="1200" dirty="0"/>
          </a:p>
        </p:txBody>
      </p:sp>
      <p:sp>
        <p:nvSpPr>
          <p:cNvPr id="11" name="stat unit checks pass"/>
          <p:cNvSpPr/>
          <p:nvPr/>
        </p:nvSpPr>
        <p:spPr>
          <a:xfrm>
            <a:off x="804672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82980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checks pass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makelist, merge, backpatch</a:t>
            </a:r>
            <a:endParaRPr lang="en-US" sz="1200" dirty="0"/>
          </a:p>
        </p:txBody>
      </p:sp>
      <p:sp>
        <p:nvSpPr>
          <p:cNvPr id="15" name="demo output"/>
          <p:cNvSpPr/>
          <p:nvPr/>
        </p:nvSpPr>
        <p:spPr>
          <a:xfrm>
            <a:off x="548640" y="2971800"/>
            <a:ext cx="51206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20040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./icg tests/02_if.src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104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105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01752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Working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Lexer for the full language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Assignment, arithmetic, relational conditions, if, blocks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Syntax errors with line numbers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Parsed, code generation next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if-else, while, &amp;&amp;, ||, !, true, false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for Reviews 2 and 3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783080" y="1874520"/>
            <a:ext cx="850392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4" name="milestone Review 1"/>
          <p:cNvSpPr/>
          <p:nvPr/>
        </p:nvSpPr>
        <p:spPr>
          <a:xfrm>
            <a:off x="1600200" y="169164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E09F3E"/>
            </a:solidFill>
            <a:prstDash val="solid"/>
          </a:ln>
        </p:spPr>
      </p:sp>
      <p:sp>
        <p:nvSpPr>
          <p:cNvPr id="5" name="phase Review 1"/>
          <p:cNvSpPr/>
          <p:nvPr/>
        </p:nvSpPr>
        <p:spPr>
          <a:xfrm>
            <a:off x="50292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9  ·  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Lexer, full grammar, quad table, patch lists; assign + if</a:t>
            </a:r>
            <a:endParaRPr lang="en-US" sz="1500" dirty="0"/>
          </a:p>
        </p:txBody>
      </p:sp>
      <p:sp>
        <p:nvSpPr>
          <p:cNvPr id="9" name="milestone Review 2"/>
          <p:cNvSpPr/>
          <p:nvPr/>
        </p:nvSpPr>
        <p:spPr>
          <a:xfrm>
            <a:off x="443484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0" name="phase Review 2"/>
          <p:cNvSpPr/>
          <p:nvPr/>
        </p:nvSpPr>
        <p:spPr>
          <a:xfrm>
            <a:off x="333756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16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if-else, while, &amp;&amp; || !, nesting, errors; --trace mode</a:t>
            </a:r>
            <a:endParaRPr lang="en-US" sz="1500" dirty="0"/>
          </a:p>
        </p:txBody>
      </p:sp>
      <p:sp>
        <p:nvSpPr>
          <p:cNvPr id="14" name="milestone Review 3"/>
          <p:cNvSpPr/>
          <p:nvPr/>
        </p:nvSpPr>
        <p:spPr>
          <a:xfrm>
            <a:off x="726948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5" name="phase Review 3"/>
          <p:cNvSpPr/>
          <p:nvPr/>
        </p:nvSpPr>
        <p:spPr>
          <a:xfrm>
            <a:off x="617220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23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do-while, for, break / continue; trace viewer; two-pass comparison; manuscript</a:t>
            </a:r>
            <a:endParaRPr lang="en-US" sz="1500" dirty="0"/>
          </a:p>
        </p:txBody>
      </p:sp>
      <p:sp>
        <p:nvSpPr>
          <p:cNvPr id="19" name="milestone VTOP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20" name="phase VTOP"/>
          <p:cNvSpPr/>
          <p:nvPr/>
        </p:nvSpPr>
        <p:spPr>
          <a:xfrm>
            <a:off x="900684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972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VTOP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30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Final report and PPT uploaded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Novelty: a trace of every makelist, merge and backpatch call, replayed step by step in an HTML viewer.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G Backpatching">
  <a:themeElements>
    <a:clrScheme name="ICG Backpatching">
      <a:dk1>
        <a:srgbClr val="1B2433"/>
      </a:dk1>
      <a:lt1>
        <a:srgbClr val="FFFFFF"/>
      </a:lt1>
      <a:dk2>
        <a:srgbClr val="4A5568"/>
      </a:dk2>
      <a:lt2>
        <a:srgbClr val="EEF2F6"/>
      </a:lt2>
      <a:accent1>
        <a:srgbClr val="E09F3E"/>
      </a:accent1>
      <a:accent2>
        <a:srgbClr val="2A7F8F"/>
      </a:accent2>
      <a:accent3>
        <a:srgbClr val="D3E7EA"/>
      </a:accent3>
      <a:accent4>
        <a:srgbClr val="FBEBD2"/>
      </a:accent4>
      <a:accent5>
        <a:srgbClr val="7A8699"/>
      </a:accent5>
      <a:accent6>
        <a:srgbClr val="B4432F"/>
      </a:accent6>
      <a:hlink>
        <a:srgbClr val="2A7F8F"/>
      </a:hlink>
      <a:folHlink>
        <a:srgbClr val="4A5568"/>
      </a:folHlink>
    </a:clrScheme>
    <a:fontScheme name="ICG Backpatch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ICG with Backpatching - Review 1</dc:title>
  <dc:subject>PptxGenJS Presentation</dc:subject>
  <dc:creator>Prithvi Raghu</dc:creator>
  <cp:lastModifiedBy>Prithvi Raghu</cp:lastModifiedBy>
  <cp:revision>1</cp:revision>
  <dcterms:created xsi:type="dcterms:W3CDTF">2026-10-05T18:02:42Z</dcterms:created>
  <dcterms:modified xsi:type="dcterms:W3CDTF">2026-10-05T18:02:42Z</dcterms:modified>
</cp:coreProperties>
</file>