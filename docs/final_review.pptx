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6" r:id="rId17"/>
    <p:sldId id="263" r:id="rId9"/>
    <p:sldId id="264" r:id="rId10"/>
    <p:sldId id="267" r:id="rId18"/>
    <p:sldId id="268" r:id="rId19"/>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ddb3cca-c95d-aa7d-d612-95e43aa30c96}">
          <p14:sldIdLst>
            <p14:sldId id="256"/>
            <p14:sldId id="257"/>
            <p14:sldId id="258"/>
          </p14:sldIdLst>
        </p14:section>
        <p14:section name="Background" id="{96ab2775-b67d-eb43-8dec-95acc917d134}">
          <p14:sldIdLst>
            <p14:sldId id="259"/>
            <p14:sldId id="260"/>
          </p14:sldIdLst>
        </p14:section>
        <p14:section name="Design" id="{1c2d3b0b-be3a-6aad-4bfe-7c510c20a089}">
          <p14:sldIdLst>
            <p14:sldId id="261"/>
            <p14:sldId id="262"/>
            <p14:sldId id="263"/>
          </p14:sldIdLst>
        </p14:section>
        <p14:section name="Status" id="{e0df762a-2dce-3e27-8824-3fd3f2645fac}">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3.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8.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one-line goal: generate three-address code for every control-flow statement in a single pass, filling every jump target by backpatching. The whole generator is written in Flex and Bison.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103: it is created empty because the end of the if is not known yet. Backpatching keeps 103 on a list and writes 105 into it once the if statement finishes.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objectives, one per rubric item, all met. 01: every statement form works and nests; the test runner fails any output that still has goto _. 02: code is emitted while parsing. 03: &amp;&amp; || ! compile to jumps. 04: errors stop with a line number.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Aho et al. is the baseline: our rules are copied from sec. 6.7. Appel is the alternative design, which we built as twopass.y to compare against. Lattner and Adve show how a production compiler handles forward branches. JFLAP motivates the step-by-step trace.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honest that the scheme itself is not new. The novelty is visibility: --trace and --step show every patch list operation as it happens (slide 11).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tree and no second pass. The highlighted module, patch lists, is the core of the project. The loop stack collects break and continue jumps until their loop closes. Only two source files: lexer.l and parser.y.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 is an empty production so that its reduction captures nextinstr exactly where the next statement's code begins. If asked about N: in the textbook form N comes before else, which gives Bison a reduce/reduce conflict; after else it is a shift/reduce choice that precedence settles.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six structures live in parser.y, below the grammar. backpatch() refuses to fill a quad that is not an unfilled jump, which catches wrong semantic actions immediately.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 make test, then ./icg tests/04_while.src. Point at 102: the exit jump was emitted as goto _ and received 106 only when the statement after the loop began. 105 is a backward jump, emitted with its target already known.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code for Reviews 2 and 3 is finished and tested: 35 of 35 checks pass. What remains is the manuscript and the final report for the VTOP upload on Oct 30.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Short-circuit: in B1 &amp;&amp; B2, if B1 is true control falls into B2 (backpatch to M), and if false the whole condition is false, so B1.falselist joins B.falselist. The right operand is never evaluated once the result is known. ! costs no code: it swaps the lists. for emits init, test, step, goto test, body, goto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./icg --step tests/03_if_else.src and press Enter through it. 103 is the goto that skips the else-branch; it stays empty until L -&gt; L1 M S learns where the next statement starts (105). The finished code is printed after the trace.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twopass.y is a second Bison grammar using the same lexer.l. It builds a syntax tree, walks it emitting jumps to labels L1, L2, ..., then replaces each label with its quad number. Run ./twopass --format=labels to show the code before resolution, and --stats on both programs for these numbers.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r>
              <a:rPr lang="en-US" sz="4800" b="1" dirty="0">
                <a:solidFill>
                  <a:schemeClr val="bg1"/>
                </a:solidFill>
                <a:latin typeface="Cambria" pitchFamily="34" charset="0"/>
                <a:ea typeface="Cambria" pitchFamily="34" charset="-122"/>
                <a:cs typeface="Cambria" pitchFamily="34" charset="-120"/>
              </a:rPr>
              <a:t>Title</a:t>
            </a:r>
            <a:endParaRPr lang="en-US" sz="48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r>
              <a:rPr lang="en-US" sz="2200" dirty="0">
                <a:solidFill>
                  <a:schemeClr val="accent1"/>
                </a:solidFill>
              </a:rPr>
              <a:t>Subtitle</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indent="0" marL="0">
              <a:buNone/>
              <a:defRPr lang="en-US" sz="3400" b="1" dirty="0">
                <a:solidFill>
                  <a:schemeClr val="tx1"/>
                </a:solidFill>
                <a:latin typeface="Cambria" pitchFamily="34" charset="0"/>
                <a:ea typeface="Cambria" pitchFamily="34" charset="-122"/>
                <a:cs typeface="Cambria" pitchFamily="34" charset="-120"/>
              </a:defRPr>
            </a:lvl1pPr>
          </a:lstStyle>
          <a:p>
            <a:pPr indent="0" marL="0">
              <a:buNone/>
            </a:pPr>
            <a:r>
              <a:rPr lang="en-US" sz="3400" b="1" dirty="0">
                <a:solidFill>
                  <a:schemeClr val="tx1"/>
                </a:solidFill>
                <a:latin typeface="Cambria" pitchFamily="34" charset="0"/>
                <a:ea typeface="Cambria" pitchFamily="34" charset="-122"/>
                <a:cs typeface="Cambria" pitchFamily="34" charset="-120"/>
              </a:rPr>
              <a:t>Title</a:t>
            </a: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BCSE307P  ·  ICG with Backpatching  ·  Final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ICG with Backpatching</a:t>
            </a:r>
            <a:endParaRPr lang="en-US" sz="48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algn="l" indent="0" marL="0">
              <a:buNone/>
            </a:pPr>
            <a:r>
              <a:rPr lang="en-US" sz="2200" dirty="0">
                <a:solidFill>
                  <a:schemeClr val="accent1"/>
                </a:solidFill>
              </a:rPr>
              <a:t>One-pass three-address code for if, if-else, while, do-while and for</a:t>
            </a:r>
            <a:endParaRPr lang="en-US" sz="2200" dirty="0"/>
          </a:p>
        </p:txBody>
      </p:sp>
      <p:sp>
        <p:nvSpPr>
          <p:cNvPr id="4" name="Text 2"/>
          <p:cNvSpPr txBox="1"/>
          <p:nvPr/>
        </p:nvSpPr>
        <p:spPr>
          <a:xfrm>
            <a:off x="731520" y="4343400"/>
            <a:ext cx="6400800" cy="109728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Prithvi Raghu  ·  24BCE2624</a:t>
            </a:r>
            <a:endParaRPr lang="en-US" sz="1800" dirty="0"/>
          </a:p>
          <a:p>
            <a:pPr indent="0" marL="0">
              <a:spcAft>
                <a:spcPts val="400"/>
              </a:spcAft>
              <a:buNone/>
            </a:pPr>
            <a:r>
              <a:rPr lang="en-US" sz="1800" dirty="0">
                <a:solidFill>
                  <a:schemeClr val="bg1"/>
                </a:solidFill>
              </a:rPr>
              <a:t>Jai Narayan Jayaprakash Jayanthi  ·  24BCE2751</a:t>
            </a:r>
            <a:endParaRPr lang="en-US" sz="1800" dirty="0"/>
          </a:p>
          <a:p>
            <a:pPr indent="0" marL="0">
              <a:spcAft>
                <a:spcPts val="400"/>
              </a:spcAft>
              <a:buNone/>
            </a:pPr>
            <a:r>
              <a:rPr lang="en-US" sz="1800" dirty="0">
                <a:solidFill>
                  <a:schemeClr val="bg1"/>
                </a:solidFill>
              </a:rPr>
              <a:t>Divyanshu Pal  ·  24BCE2856</a:t>
            </a:r>
            <a:endParaRPr lang="en-US" sz="1800" dirty="0"/>
          </a:p>
        </p:txBody>
      </p:sp>
      <p:sp>
        <p:nvSpPr>
          <p:cNvPr id="5" name="Text 3"/>
          <p:cNvSpPr txBox="1"/>
          <p:nvPr/>
        </p:nvSpPr>
        <p:spPr>
          <a:xfrm>
            <a:off x="731520" y="5760720"/>
            <a:ext cx="10058400" cy="640080"/>
          </a:xfrm>
          <a:prstGeom prst="rect">
            <a:avLst/>
          </a:prstGeom>
          <a:noFill/>
          <a:ln/>
        </p:spPr>
        <p:txBody>
          <a:bodyPr wrap="square" lIns="0" tIns="0" rIns="0" bIns="0" rtlCol="0" anchor="t"/>
          <a:lstStyle/>
          <a:p>
            <a:pPr indent="0" marL="0">
              <a:buNone/>
            </a:pPr>
            <a:r>
              <a:rPr lang="en-US" sz="1400" dirty="0">
                <a:solidFill>
                  <a:srgbClr val="AEB8C6"/>
                </a:solidFill>
              </a:rPr>
              <a:t>Team 15  ·  BCSE307P Compiler Design Lab  ·  Final Review  ·  October 2026</a:t>
            </a:r>
            <a:endParaRPr lang="en-US" sz="1400" dirty="0"/>
          </a:p>
          <a:p>
            <a:pPr indent="0" marL="0">
              <a:buNone/>
            </a:pPr>
            <a:r>
              <a:rPr lang="en-US" sz="1400" dirty="0">
                <a:solidFill>
                  <a:srgbClr val="AEB8C6"/>
                </a:solidFill>
              </a:rPr>
              <a:t>Faculty: Dr. Naga Priyadarsini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Forward jumps have unknown targets in one pass</a:t>
            </a:r>
            <a:endParaRPr lang="en-US" sz="3400" dirty="0"/>
          </a:p>
        </p:txBody>
      </p:sp>
      <p:sp>
        <p:nvSpPr>
          <p:cNvPr id="3" name="Text 1"/>
          <p:cNvSpPr txBox="1"/>
          <p:nvPr/>
        </p:nvSpPr>
        <p:spPr>
          <a:xfrm>
            <a:off x="548640" y="1463040"/>
            <a:ext cx="5394960" cy="4206240"/>
          </a:xfrm>
          <a:prstGeom prst="rect">
            <a:avLst/>
          </a:prstGeom>
          <a:noFill/>
          <a:ln/>
        </p:spPr>
        <p:txBody>
          <a:bodyPr wrap="square" lIns="0" tIns="0" rIns="0" bIns="0" rtlCol="0" anchor="t"/>
          <a:lstStyle/>
          <a:p>
            <a:pPr indent="0" marL="0">
              <a:buNone/>
            </a:pPr>
            <a:r>
              <a:rPr lang="en-US" sz="1800" dirty="0">
                <a:solidFill>
                  <a:schemeClr val="tx1"/>
                </a:solidFill>
              </a:rPr>
              <a:t>The parser emits code as it reads. At </a:t>
            </a:r>
            <a:pPr indent="0" marL="0">
              <a:buNone/>
            </a:pPr>
            <a:r>
              <a:rPr lang="en-US" sz="1800" dirty="0">
                <a:solidFill>
                  <a:schemeClr val="tx1"/>
                </a:solidFill>
                <a:latin typeface="Courier New" pitchFamily="34" charset="0"/>
                <a:ea typeface="Courier New" pitchFamily="34" charset="-122"/>
                <a:cs typeface="Courier New" pitchFamily="34" charset="-120"/>
              </a:rPr>
              <a:t>if (a &lt; b)</a:t>
            </a:r>
            <a:pPr indent="0" marL="0">
              <a:buNone/>
            </a:pPr>
            <a:r>
              <a:rPr lang="en-US" sz="1800" dirty="0">
                <a:solidFill>
                  <a:schemeClr val="tx1"/>
                </a:solidFill>
              </a:rPr>
              <a:t> it must emit the jump taken when the condition is false.</a:t>
            </a:r>
            <a:endParaRPr lang="en-US" sz="1800" dirty="0"/>
          </a:p>
          <a:p>
            <a:pPr indent="0" marL="0">
              <a:buNone/>
            </a:pPr>
            <a:r>
              <a:rPr lang="en-US" sz="800" dirty="0">
                <a:solidFill>
                  <a:schemeClr val="tx1"/>
                </a:solidFill>
              </a:rPr>
              <a:t> </a:t>
            </a:r>
            <a:endParaRPr lang="en-US" sz="1800" dirty="0"/>
          </a:p>
          <a:p>
            <a:pPr indent="0" marL="0">
              <a:buNone/>
            </a:pPr>
            <a:r>
              <a:rPr lang="en-US" sz="1800" dirty="0">
                <a:solidFill>
                  <a:schemeClr val="tx1"/>
                </a:solidFill>
              </a:rPr>
              <a:t>That jump should land after the then-branch, whose code does not exist yet.</a:t>
            </a:r>
            <a:endParaRPr lang="en-US" sz="1800" dirty="0"/>
          </a:p>
          <a:p>
            <a:pPr indent="0" marL="0">
              <a:buNone/>
            </a:pPr>
            <a:r>
              <a:rPr lang="en-US" sz="800" dirty="0">
                <a:solidFill>
                  <a:schemeClr val="tx1"/>
                </a:solidFill>
              </a:rPr>
              <a:t> </a:t>
            </a:r>
            <a:endParaRPr lang="en-US" sz="1800" dirty="0"/>
          </a:p>
          <a:p>
            <a:pPr indent="0" marL="0">
              <a:buNone/>
            </a:pPr>
            <a:r>
              <a:rPr lang="en-US" sz="1800" b="1" dirty="0">
                <a:solidFill>
                  <a:schemeClr val="tx1"/>
                </a:solidFill>
              </a:rPr>
              <a:t>Two ways out:</a:t>
            </a:r>
            <a:endParaRPr lang="en-US" sz="1800" dirty="0"/>
          </a:p>
          <a:p>
            <a:pPr marL="342900" indent="-342900">
              <a:buSzPct val="100000"/>
              <a:buChar char="•"/>
            </a:pPr>
            <a:r>
              <a:rPr lang="en-US" sz="1800" dirty="0">
                <a:solidFill>
                  <a:schemeClr val="tx1"/>
                </a:solidFill>
              </a:rPr>
              <a:t>Emit symbolic labels and resolve them in a second pass</a:t>
            </a:r>
            <a:endParaRPr lang="en-US" sz="1800" dirty="0"/>
          </a:p>
          <a:p>
            <a:pPr marL="342900" indent="-342900">
              <a:buSzPct val="100000"/>
              <a:buChar char="•"/>
            </a:pPr>
            <a:r>
              <a:rPr lang="en-US" sz="1800" dirty="0">
                <a:solidFill>
                  <a:schemeClr val="tx1"/>
                </a:solidFill>
              </a:rPr>
              <a:t>Remember the empty jump and fill it once the target is known</a:t>
            </a:r>
            <a:endParaRPr lang="en-US" sz="1800" dirty="0"/>
          </a:p>
          <a:p>
            <a:pPr indent="0" marL="0">
              <a:buNone/>
            </a:pPr>
            <a:r>
              <a:rPr lang="en-US" sz="800" dirty="0">
                <a:solidFill>
                  <a:schemeClr val="tx1"/>
                </a:solidFill>
              </a:rPr>
              <a:t> </a:t>
            </a:r>
            <a:endParaRPr lang="en-US" sz="1800" dirty="0"/>
          </a:p>
          <a:p>
            <a:pPr indent="0" marL="0">
              <a:buNone/>
            </a:pPr>
            <a:r>
              <a:rPr lang="en-US" sz="1800" b="1" dirty="0">
                <a:solidFill>
                  <a:schemeClr val="accent2"/>
                </a:solidFill>
              </a:rPr>
              <a:t>The second is backpatching.</a:t>
            </a:r>
            <a:endParaRPr lang="en-US" sz="1800" dirty="0"/>
          </a:p>
        </p:txBody>
      </p:sp>
      <p:sp>
        <p:nvSpPr>
          <p:cNvPr id="4" name="problem code"/>
          <p:cNvSpPr/>
          <p:nvPr/>
        </p:nvSpPr>
        <p:spPr>
          <a:xfrm>
            <a:off x="6400800" y="1463040"/>
            <a:ext cx="5212080" cy="3291840"/>
          </a:xfrm>
          <a:prstGeom prst="roundRect">
            <a:avLst>
              <a:gd name="adj" fmla="val 2222"/>
            </a:avLst>
          </a:prstGeom>
          <a:solidFill>
            <a:schemeClr val="tx1"/>
          </a:solidFill>
          <a:ln/>
        </p:spPr>
      </p:sp>
      <p:sp>
        <p:nvSpPr>
          <p:cNvPr id="5" name="Text 3"/>
          <p:cNvSpPr txBox="1"/>
          <p:nvPr/>
        </p:nvSpPr>
        <p:spPr>
          <a:xfrm>
            <a:off x="6675120" y="1691640"/>
            <a:ext cx="4663440" cy="2834640"/>
          </a:xfrm>
          <a:prstGeom prst="rect">
            <a:avLst/>
          </a:prstGeom>
          <a:noFill/>
          <a:ln/>
        </p:spPr>
        <p:txBody>
          <a:bodyPr wrap="square" lIns="0" tIns="0" rIns="0" bIns="0" rtlCol="0" anchor="t"/>
          <a:lstStyle/>
          <a:p>
            <a:pPr indent="0" marL="0">
              <a:lnSpc>
                <a:spcPct val="105000"/>
              </a:lnSpc>
              <a:buNone/>
            </a:pPr>
            <a:r>
              <a:rPr lang="en-US" sz="1600" dirty="0">
                <a:solidFill>
                  <a:schemeClr val="bg1"/>
                </a:solidFill>
                <a:latin typeface="Courier New" pitchFamily="34" charset="0"/>
                <a:ea typeface="Courier New" pitchFamily="34" charset="-122"/>
                <a:cs typeface="Courier New" pitchFamily="34" charset="-120"/>
              </a:rPr>
              <a:t>x = a + b;</a:t>
            </a:r>
            <a:endParaRPr lang="en-US" sz="1600" dirty="0"/>
          </a:p>
          <a:p>
            <a:pPr indent="0" marL="0">
              <a:lnSpc>
                <a:spcPct val="105000"/>
              </a:lnSpc>
              <a:buNone/>
            </a:pPr>
            <a:r>
              <a:rPr lang="en-US" sz="1600" dirty="0">
                <a:solidFill>
                  <a:schemeClr val="bg1"/>
                </a:solidFill>
                <a:latin typeface="Courier New" pitchFamily="34" charset="0"/>
                <a:ea typeface="Courier New" pitchFamily="34" charset="-122"/>
                <a:cs typeface="Courier New" pitchFamily="34" charset="-120"/>
              </a:rPr>
              <a:t>if (a &lt; b) y = c;</a:t>
            </a:r>
            <a:endParaRPr lang="en-US" sz="1600" dirty="0"/>
          </a:p>
          <a:p>
            <a:pPr indent="0" marL="0">
              <a:lnSpc>
                <a:spcPct val="105000"/>
              </a:lnSpc>
              <a:buNone/>
            </a:pPr>
            <a:r>
              <a:rPr lang="en-US" sz="1600" dirty="0">
                <a:solidFill>
                  <a:schemeClr val="bg1"/>
                </a:solidFill>
                <a:latin typeface="Courier New" pitchFamily="34" charset="0"/>
                <a:ea typeface="Courier New" pitchFamily="34" charset="-122"/>
                <a:cs typeface="Courier New" pitchFamily="34" charset="-120"/>
              </a:rPr>
              <a:t> </a:t>
            </a:r>
            <a:endParaRPr lang="en-US" sz="1600" dirty="0"/>
          </a:p>
          <a:p>
            <a:pPr indent="0" marL="0">
              <a:lnSpc>
                <a:spcPct val="105000"/>
              </a:lnSpc>
              <a:buNone/>
            </a:pPr>
            <a:r>
              <a:rPr lang="en-US" sz="1600" dirty="0">
                <a:solidFill>
                  <a:schemeClr val="bg1"/>
                </a:solidFill>
                <a:latin typeface="Courier New" pitchFamily="34" charset="0"/>
                <a:ea typeface="Courier New" pitchFamily="34" charset="-122"/>
                <a:cs typeface="Courier New" pitchFamily="34" charset="-120"/>
              </a:rPr>
              <a:t>100: t1 = a + b</a:t>
            </a:r>
            <a:endParaRPr lang="en-US" sz="1600" dirty="0"/>
          </a:p>
          <a:p>
            <a:pPr indent="0" marL="0">
              <a:lnSpc>
                <a:spcPct val="105000"/>
              </a:lnSpc>
              <a:buNone/>
            </a:pPr>
            <a:r>
              <a:rPr lang="en-US" sz="1600" dirty="0">
                <a:solidFill>
                  <a:schemeClr val="bg1"/>
                </a:solidFill>
                <a:latin typeface="Courier New" pitchFamily="34" charset="0"/>
                <a:ea typeface="Courier New" pitchFamily="34" charset="-122"/>
                <a:cs typeface="Courier New" pitchFamily="34" charset="-120"/>
              </a:rPr>
              <a:t>101: x = t1</a:t>
            </a:r>
            <a:endParaRPr lang="en-US" sz="1600" dirty="0"/>
          </a:p>
          <a:p>
            <a:pPr indent="0" marL="0">
              <a:lnSpc>
                <a:spcPct val="105000"/>
              </a:lnSpc>
              <a:buNone/>
            </a:pPr>
            <a:r>
              <a:rPr lang="en-US" sz="1600" dirty="0">
                <a:solidFill>
                  <a:schemeClr val="bg1"/>
                </a:solidFill>
                <a:latin typeface="Courier New" pitchFamily="34" charset="0"/>
                <a:ea typeface="Courier New" pitchFamily="34" charset="-122"/>
                <a:cs typeface="Courier New" pitchFamily="34" charset="-120"/>
              </a:rPr>
              <a:t>102: if a &lt; b goto _</a:t>
            </a:r>
            <a:endParaRPr lang="en-US" sz="1600" dirty="0"/>
          </a:p>
          <a:p>
            <a:pPr indent="0" marL="0">
              <a:lnSpc>
                <a:spcPct val="105000"/>
              </a:lnSpc>
              <a:buNone/>
            </a:pPr>
            <a:r>
              <a:rPr lang="en-US" sz="1600" b="1" dirty="0">
                <a:solidFill>
                  <a:schemeClr val="accent1"/>
                </a:solidFill>
                <a:latin typeface="Courier New" pitchFamily="34" charset="0"/>
                <a:ea typeface="Courier New" pitchFamily="34" charset="-122"/>
                <a:cs typeface="Courier New" pitchFamily="34" charset="-120"/>
              </a:rPr>
              <a:t>103: goto _      ← where?</a:t>
            </a:r>
            <a:endParaRPr lang="en-US" sz="1600" dirty="0"/>
          </a:p>
          <a:p>
            <a:pPr indent="0" marL="0">
              <a:lnSpc>
                <a:spcPct val="105000"/>
              </a:lnSpc>
              <a:buNone/>
            </a:pPr>
            <a:r>
              <a:rPr lang="en-US" sz="1600" dirty="0">
                <a:solidFill>
                  <a:schemeClr val="bg1"/>
                </a:solidFill>
                <a:latin typeface="Courier New" pitchFamily="34" charset="0"/>
                <a:ea typeface="Courier New" pitchFamily="34" charset="-122"/>
                <a:cs typeface="Courier New" pitchFamily="34" charset="-120"/>
              </a:rPr>
              <a:t>104: y = c</a:t>
            </a:r>
            <a:endParaRPr lang="en-US" sz="1600" dirty="0"/>
          </a:p>
          <a:p>
            <a:pPr indent="0" marL="0">
              <a:lnSpc>
                <a:spcPct val="105000"/>
              </a:lnSpc>
              <a:buNone/>
            </a:pPr>
            <a:r>
              <a:rPr lang="en-US" sz="1600" dirty="0">
                <a:solidFill>
                  <a:schemeClr val="bg1"/>
                </a:solidFill>
                <a:latin typeface="Courier New" pitchFamily="34" charset="0"/>
                <a:ea typeface="Courier New" pitchFamily="34" charset="-122"/>
                <a:cs typeface="Courier New" pitchFamily="34" charset="-120"/>
              </a:rPr>
              <a:t>105: halt</a:t>
            </a:r>
            <a:endParaRPr lang="en-US" sz="1600" dirty="0"/>
          </a:p>
        </p:txBody>
      </p:sp>
      <p:sp>
        <p:nvSpPr>
          <p:cNvPr id="6" name="Text 4"/>
          <p:cNvSpPr txBox="1"/>
          <p:nvPr/>
        </p:nvSpPr>
        <p:spPr>
          <a:xfrm>
            <a:off x="6400800" y="4937760"/>
            <a:ext cx="5212080" cy="365760"/>
          </a:xfrm>
          <a:prstGeom prst="rect">
            <a:avLst/>
          </a:prstGeom>
          <a:noFill/>
          <a:ln/>
        </p:spPr>
        <p:txBody>
          <a:bodyPr wrap="square" lIns="0" tIns="0" rIns="0" bIns="0" rtlCol="0" anchor="t"/>
          <a:lstStyle/>
          <a:p>
            <a:pPr indent="0" marL="0">
              <a:buNone/>
            </a:pPr>
            <a:r>
              <a:rPr lang="en-US" sz="1400" i="1" dirty="0">
                <a:solidFill>
                  <a:schemeClr val="tx2"/>
                </a:solidFill>
              </a:rPr>
              <a:t>When 103 is emitted, quad 105 has not been generated.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Objectives: all four met</a:t>
            </a:r>
            <a:endParaRPr lang="en-US" sz="3400" dirty="0"/>
          </a:p>
        </p:txBody>
      </p:sp>
      <p:sp>
        <p:nvSpPr>
          <p:cNvPr id="3" name="objective 1"/>
          <p:cNvSpPr/>
          <p:nvPr/>
        </p:nvSpPr>
        <p:spPr>
          <a:xfrm>
            <a:off x="548640" y="1463040"/>
            <a:ext cx="5440680" cy="2103120"/>
          </a:xfrm>
          <a:prstGeom prst="roundRect">
            <a:avLst>
              <a:gd name="adj" fmla="val 4348"/>
            </a:avLst>
          </a:prstGeom>
          <a:solidFill>
            <a:schemeClr val="bg2"/>
          </a:solidFill>
          <a:ln/>
        </p:spPr>
      </p:sp>
      <p:sp>
        <p:nvSpPr>
          <p:cNvPr id="4" name="Text 2"/>
          <p:cNvSpPr txBox="1"/>
          <p:nvPr/>
        </p:nvSpPr>
        <p:spPr>
          <a:xfrm>
            <a:off x="868680" y="173736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01</a:t>
            </a:r>
            <a:endParaRPr lang="en-US" sz="4000" dirty="0"/>
          </a:p>
        </p:txBody>
      </p:sp>
      <p:sp>
        <p:nvSpPr>
          <p:cNvPr id="5" name="Text 3"/>
          <p:cNvSpPr txBox="1"/>
          <p:nvPr/>
        </p:nvSpPr>
        <p:spPr>
          <a:xfrm>
            <a:off x="1874520" y="1783080"/>
            <a:ext cx="3840480" cy="411480"/>
          </a:xfrm>
          <a:prstGeom prst="rect">
            <a:avLst/>
          </a:prstGeom>
          <a:noFill/>
          <a:ln/>
        </p:spPr>
        <p:txBody>
          <a:bodyPr wrap="square" lIns="0" tIns="0" rIns="0" bIns="0" rtlCol="0" anchor="t"/>
          <a:lstStyle/>
          <a:p>
            <a:pPr indent="0" marL="0">
              <a:buNone/>
            </a:pPr>
            <a:r>
              <a:rPr lang="en-US" sz="2000" b="1" dirty="0">
                <a:solidFill>
                  <a:schemeClr val="tx1"/>
                </a:solidFill>
              </a:rPr>
              <a:t>Correct three-address code</a:t>
            </a:r>
            <a:endParaRPr lang="en-US" sz="2000" dirty="0"/>
          </a:p>
        </p:txBody>
      </p:sp>
      <p:sp>
        <p:nvSpPr>
          <p:cNvPr id="6" name="Text 4"/>
          <p:cNvSpPr txBox="1"/>
          <p:nvPr/>
        </p:nvSpPr>
        <p:spPr>
          <a:xfrm>
            <a:off x="1874520" y="2286000"/>
            <a:ext cx="3840480" cy="1143000"/>
          </a:xfrm>
          <a:prstGeom prst="rect">
            <a:avLst/>
          </a:prstGeom>
          <a:noFill/>
          <a:ln/>
        </p:spPr>
        <p:txBody>
          <a:bodyPr wrap="square" lIns="0" tIns="0" rIns="0" bIns="0" rtlCol="0" anchor="t"/>
          <a:lstStyle/>
          <a:p>
            <a:pPr indent="0" marL="0">
              <a:buNone/>
            </a:pPr>
            <a:r>
              <a:rPr lang="en-US" sz="1500" dirty="0">
                <a:solidFill>
                  <a:schemeClr val="tx2"/>
                </a:solidFill>
              </a:rPr>
              <a:t>if, if-else, while, do-while, for, break and continue, nested to any depth, with no goto _ left unfilled.</a:t>
            </a:r>
            <a:endParaRPr lang="en-US" sz="1500" dirty="0"/>
          </a:p>
        </p:txBody>
      </p:sp>
      <p:sp>
        <p:nvSpPr>
          <p:cNvPr id="7" name="objective 2"/>
          <p:cNvSpPr/>
          <p:nvPr/>
        </p:nvSpPr>
        <p:spPr>
          <a:xfrm>
            <a:off x="6172200" y="1463040"/>
            <a:ext cx="5440680" cy="2103120"/>
          </a:xfrm>
          <a:prstGeom prst="roundRect">
            <a:avLst>
              <a:gd name="adj" fmla="val 4348"/>
            </a:avLst>
          </a:prstGeom>
          <a:solidFill>
            <a:schemeClr val="bg2"/>
          </a:solidFill>
          <a:ln/>
        </p:spPr>
      </p:sp>
      <p:sp>
        <p:nvSpPr>
          <p:cNvPr id="8" name="Text 6"/>
          <p:cNvSpPr txBox="1"/>
          <p:nvPr/>
        </p:nvSpPr>
        <p:spPr>
          <a:xfrm>
            <a:off x="6492240" y="173736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02</a:t>
            </a:r>
            <a:endParaRPr lang="en-US" sz="4000" dirty="0"/>
          </a:p>
        </p:txBody>
      </p:sp>
      <p:sp>
        <p:nvSpPr>
          <p:cNvPr id="9" name="Text 7"/>
          <p:cNvSpPr txBox="1"/>
          <p:nvPr/>
        </p:nvSpPr>
        <p:spPr>
          <a:xfrm>
            <a:off x="7498080" y="1783080"/>
            <a:ext cx="3840480" cy="411480"/>
          </a:xfrm>
          <a:prstGeom prst="rect">
            <a:avLst/>
          </a:prstGeom>
          <a:noFill/>
          <a:ln/>
        </p:spPr>
        <p:txBody>
          <a:bodyPr wrap="square" lIns="0" tIns="0" rIns="0" bIns="0" rtlCol="0" anchor="t"/>
          <a:lstStyle/>
          <a:p>
            <a:pPr indent="0" marL="0">
              <a:buNone/>
            </a:pPr>
            <a:r>
              <a:rPr lang="en-US" sz="2000" b="1" dirty="0">
                <a:solidFill>
                  <a:schemeClr val="tx1"/>
                </a:solidFill>
              </a:rPr>
              <a:t>A single pass</a:t>
            </a:r>
            <a:endParaRPr lang="en-US" sz="2000" dirty="0"/>
          </a:p>
        </p:txBody>
      </p:sp>
      <p:sp>
        <p:nvSpPr>
          <p:cNvPr id="10" name="Text 8"/>
          <p:cNvSpPr txBox="1"/>
          <p:nvPr/>
        </p:nvSpPr>
        <p:spPr>
          <a:xfrm>
            <a:off x="7498080" y="2286000"/>
            <a:ext cx="3840480" cy="1143000"/>
          </a:xfrm>
          <a:prstGeom prst="rect">
            <a:avLst/>
          </a:prstGeom>
          <a:noFill/>
          <a:ln/>
        </p:spPr>
        <p:txBody>
          <a:bodyPr wrap="square" lIns="0" tIns="0" rIns="0" bIns="0" rtlCol="0" anchor="t"/>
          <a:lstStyle/>
          <a:p>
            <a:pPr indent="0" marL="0">
              <a:buNone/>
            </a:pPr>
            <a:r>
              <a:rPr lang="en-US" sz="1500" dirty="0">
                <a:solidFill>
                  <a:schemeClr val="tx2"/>
                </a:solidFill>
              </a:rPr>
              <a:t>Code is emitted while parsing; every jump target is filled by backpatching, with no label-resolution pass.</a:t>
            </a:r>
            <a:endParaRPr lang="en-US" sz="1500" dirty="0"/>
          </a:p>
        </p:txBody>
      </p:sp>
      <p:sp>
        <p:nvSpPr>
          <p:cNvPr id="11" name="objective 3"/>
          <p:cNvSpPr/>
          <p:nvPr/>
        </p:nvSpPr>
        <p:spPr>
          <a:xfrm>
            <a:off x="548640" y="3794760"/>
            <a:ext cx="5440680" cy="2103120"/>
          </a:xfrm>
          <a:prstGeom prst="roundRect">
            <a:avLst>
              <a:gd name="adj" fmla="val 4348"/>
            </a:avLst>
          </a:prstGeom>
          <a:solidFill>
            <a:schemeClr val="bg2"/>
          </a:solidFill>
          <a:ln/>
        </p:spPr>
      </p:sp>
      <p:sp>
        <p:nvSpPr>
          <p:cNvPr id="12" name="Text 10"/>
          <p:cNvSpPr txBox="1"/>
          <p:nvPr/>
        </p:nvSpPr>
        <p:spPr>
          <a:xfrm>
            <a:off x="868680" y="406908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03</a:t>
            </a:r>
            <a:endParaRPr lang="en-US" sz="4000" dirty="0"/>
          </a:p>
        </p:txBody>
      </p:sp>
      <p:sp>
        <p:nvSpPr>
          <p:cNvPr id="13" name="Text 11"/>
          <p:cNvSpPr txBox="1"/>
          <p:nvPr/>
        </p:nvSpPr>
        <p:spPr>
          <a:xfrm>
            <a:off x="1874520" y="4114800"/>
            <a:ext cx="3840480" cy="411480"/>
          </a:xfrm>
          <a:prstGeom prst="rect">
            <a:avLst/>
          </a:prstGeom>
          <a:noFill/>
          <a:ln/>
        </p:spPr>
        <p:txBody>
          <a:bodyPr wrap="square" lIns="0" tIns="0" rIns="0" bIns="0" rtlCol="0" anchor="t"/>
          <a:lstStyle/>
          <a:p>
            <a:pPr indent="0" marL="0">
              <a:buNone/>
            </a:pPr>
            <a:r>
              <a:rPr lang="en-US" sz="2000" b="1" dirty="0">
                <a:solidFill>
                  <a:schemeClr val="tx1"/>
                </a:solidFill>
              </a:rPr>
              <a:t>Short-circuit booleans</a:t>
            </a:r>
            <a:endParaRPr lang="en-US" sz="2000" dirty="0"/>
          </a:p>
        </p:txBody>
      </p:sp>
      <p:sp>
        <p:nvSpPr>
          <p:cNvPr id="14" name="Text 12"/>
          <p:cNvSpPr txBox="1"/>
          <p:nvPr/>
        </p:nvSpPr>
        <p:spPr>
          <a:xfrm>
            <a:off x="1874520" y="4617720"/>
            <a:ext cx="3840480" cy="1143000"/>
          </a:xfrm>
          <a:prstGeom prst="rect">
            <a:avLst/>
          </a:prstGeom>
          <a:noFill/>
          <a:ln/>
        </p:spPr>
        <p:txBody>
          <a:bodyPr wrap="square" lIns="0" tIns="0" rIns="0" bIns="0" rtlCol="0" anchor="t"/>
          <a:lstStyle/>
          <a:p>
            <a:pPr indent="0" marL="0">
              <a:buNone/>
            </a:pPr>
            <a:r>
              <a:rPr lang="en-US" sz="1500" dirty="0">
                <a:solidFill>
                  <a:schemeClr val="tx2"/>
                </a:solidFill>
              </a:rPr>
              <a:t>&amp;&amp;, || and ! compile to jumps, so the right operand is skipped once the result is known.</a:t>
            </a:r>
            <a:endParaRPr lang="en-US" sz="1500" dirty="0"/>
          </a:p>
        </p:txBody>
      </p:sp>
      <p:sp>
        <p:nvSpPr>
          <p:cNvPr id="15" name="objective 4"/>
          <p:cNvSpPr/>
          <p:nvPr/>
        </p:nvSpPr>
        <p:spPr>
          <a:xfrm>
            <a:off x="6172200" y="3794760"/>
            <a:ext cx="5440680" cy="2103120"/>
          </a:xfrm>
          <a:prstGeom prst="roundRect">
            <a:avLst>
              <a:gd name="adj" fmla="val 4348"/>
            </a:avLst>
          </a:prstGeom>
          <a:solidFill>
            <a:schemeClr val="bg2"/>
          </a:solidFill>
          <a:ln/>
        </p:spPr>
      </p:sp>
      <p:sp>
        <p:nvSpPr>
          <p:cNvPr id="16" name="Text 14"/>
          <p:cNvSpPr txBox="1"/>
          <p:nvPr/>
        </p:nvSpPr>
        <p:spPr>
          <a:xfrm>
            <a:off x="6492240" y="406908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04</a:t>
            </a:r>
            <a:endParaRPr lang="en-US" sz="4000" dirty="0"/>
          </a:p>
        </p:txBody>
      </p:sp>
      <p:sp>
        <p:nvSpPr>
          <p:cNvPr id="17" name="Text 15"/>
          <p:cNvSpPr txBox="1"/>
          <p:nvPr/>
        </p:nvSpPr>
        <p:spPr>
          <a:xfrm>
            <a:off x="7498080" y="4114800"/>
            <a:ext cx="3840480" cy="411480"/>
          </a:xfrm>
          <a:prstGeom prst="rect">
            <a:avLst/>
          </a:prstGeom>
          <a:noFill/>
          <a:ln/>
        </p:spPr>
        <p:txBody>
          <a:bodyPr wrap="square" lIns="0" tIns="0" rIns="0" bIns="0" rtlCol="0" anchor="t"/>
          <a:lstStyle/>
          <a:p>
            <a:pPr indent="0" marL="0">
              <a:buNone/>
            </a:pPr>
            <a:r>
              <a:rPr lang="en-US" sz="2000" b="1" dirty="0">
                <a:solidFill>
                  <a:schemeClr val="tx1"/>
                </a:solidFill>
              </a:rPr>
              <a:t>Clear error reporting</a:t>
            </a:r>
            <a:endParaRPr lang="en-US" sz="2000" dirty="0"/>
          </a:p>
        </p:txBody>
      </p:sp>
      <p:sp>
        <p:nvSpPr>
          <p:cNvPr id="18" name="Text 16"/>
          <p:cNvSpPr txBox="1"/>
          <p:nvPr/>
        </p:nvSpPr>
        <p:spPr>
          <a:xfrm>
            <a:off x="7498080" y="4617720"/>
            <a:ext cx="3840480" cy="1143000"/>
          </a:xfrm>
          <a:prstGeom prst="rect">
            <a:avLst/>
          </a:prstGeom>
          <a:noFill/>
          <a:ln/>
        </p:spPr>
        <p:txBody>
          <a:bodyPr wrap="square" lIns="0" tIns="0" rIns="0" bIns="0" rtlCol="0" anchor="t"/>
          <a:lstStyle/>
          <a:p>
            <a:pPr indent="0" marL="0">
              <a:buNone/>
            </a:pPr>
            <a:r>
              <a:rPr lang="en-US" sz="1500" dirty="0">
                <a:solidFill>
                  <a:schemeClr val="tx2"/>
                </a:solidFill>
              </a:rPr>
              <a:t>Lexical errors, syntax errors and a break or continue outside a loop are reported with their line number.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Literature survey</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120640"/>
                <a:gridCol w="822960"/>
                <a:gridCol w="5120640"/>
              </a:tblGrid>
              <a:tr h="640080">
                <a:tc>
                  <a:txBody>
                    <a:bodyPr/>
                    <a:lstStyle/>
                    <a:p>
                      <a:pPr indent="0" marL="0">
                        <a:buNone/>
                      </a:pPr>
                      <a:r>
                        <a:rPr lang="en-US" sz="1400" b="1" dirty="0">
                          <a:solidFill>
                            <a:schemeClr val="bg1"/>
                          </a:solidFill>
                        </a:rPr>
                        <a:t>Source</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400" b="1" dirty="0">
                          <a:solidFill>
                            <a:schemeClr val="bg1"/>
                          </a:solidFill>
                        </a:rPr>
                        <a:t>Year</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400" b="1" dirty="0">
                          <a:solidFill>
                            <a:schemeClr val="bg1"/>
                          </a:solidFill>
                        </a:rPr>
                        <a:t>What we take from it</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accent2"/>
                    </a:solidFill>
                  </a:tcPr>
                </a:tc>
              </a:tr>
              <a:tr h="640080">
                <a:tc>
                  <a:txBody>
                    <a:bodyPr/>
                    <a:lstStyle/>
                    <a:p>
                      <a:pPr indent="0" marL="0">
                        <a:buNone/>
                      </a:pPr>
                      <a:r>
                        <a:rPr lang="en-US" sz="1400" dirty="0">
                          <a:solidFill>
                            <a:schemeClr val="tx1"/>
                          </a:solidFill>
                        </a:rPr>
                        <a:t>Aho, Lam, Sethi, Ullman, Compilers: Principles, Techniques, and Tools, 2nd ed.</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2006</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The translation scheme we implement (sec. 6.7): truelist, falselist, M and N</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400" dirty="0">
                          <a:solidFill>
                            <a:schemeClr val="tx1"/>
                          </a:solidFill>
                        </a:rPr>
                        <a:t>Appel, Modern Compiler Implementation in C</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1998</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Symbolic labels resolved later; the basis of our two-pass baseline (twopass.y)</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400" dirty="0">
                          <a:solidFill>
                            <a:schemeClr val="tx1"/>
                          </a:solidFill>
                        </a:rPr>
                        <a:t>Cooper and Torczon, Engineering a Compiler, 2nd ed.</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2011</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Short-circuit evaluation and standard control-flow code shapes</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400" dirty="0">
                          <a:solidFill>
                            <a:schemeClr val="tx1"/>
                          </a:solidFill>
                        </a:rPr>
                        <a:t>Levine, flex &amp; bison</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2009</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%union, empty rules, precedence for the dangling else</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400" dirty="0">
                          <a:solidFill>
                            <a:schemeClr val="tx1"/>
                          </a:solidFill>
                        </a:rPr>
                        <a:t>Lattner and Adve, LLVM, CGO</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2004</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Basic blocks created ahead, terminators set later</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400" dirty="0">
                          <a:solidFill>
                            <a:schemeClr val="tx1"/>
                          </a:solidFill>
                        </a:rPr>
                        <a:t>Rodger and Finley, JFLAP</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2006</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Precedent for step-by-step visual tools; motivates our trace mode</a:t>
                      </a:r>
                      <a:endParaRPr lang="en-US" sz="1400" dirty="0"/>
                    </a:p>
                  </a:txBody>
                  <a:tcPr marL="101600" marR="101600" marT="63500" marB="6350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Three ways to resolve forward jumps</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2834640"/>
                <a:gridCol w="2834640"/>
                <a:gridCol w="2834640"/>
              </a:tblGrid>
              <a:tr h="685800">
                <a:tc>
                  <a:txBody>
                    <a:bodyPr/>
                    <a:lstStyle/>
                    <a:p>
                      <a:pPr indent="0" marL="0">
                        <a:buNone/>
                      </a:pP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b="1" dirty="0">
                          <a:solidFill>
                            <a:schemeClr val="bg1"/>
                          </a:solidFill>
                        </a:rPr>
                        <a:t>Two-pass, symbolic labels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500" b="1" dirty="0">
                          <a:solidFill>
                            <a:schemeClr val="tx1"/>
                          </a:solidFill>
                        </a:rPr>
                        <a:t>Backpatching (ours)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Basic-block IR (LLVM)</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r>
              <a:tr h="685800">
                <a:tc>
                  <a:txBody>
                    <a:bodyPr/>
                    <a:lstStyle/>
                    <a:p>
                      <a:pPr indent="0" marL="0">
                        <a:buNone/>
                      </a:pPr>
                      <a:r>
                        <a:rPr lang="en-US" sz="1500" b="1" dirty="0">
                          <a:solidFill>
                            <a:schemeClr val="tx1"/>
                          </a:solidFill>
                        </a:rPr>
                        <a:t>Passes over code</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 emit, then resolve labels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 filled during parsing</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4"/>
                    </a:solidFill>
                  </a:tcPr>
                </a:tc>
                <a:tc>
                  <a:txBody>
                    <a:bodyPr/>
                    <a:lstStyle/>
                    <a:p>
                      <a:pPr indent="0" marL="0">
                        <a:buNone/>
                      </a:pPr>
                      <a:r>
                        <a:rPr lang="en-US" sz="1500" dirty="0">
                          <a:solidFill>
                            <a:schemeClr val="tx1"/>
                          </a:solidFill>
                        </a:rPr>
                        <a:t>1 to build blocks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r h="685800">
                <a:tc>
                  <a:txBody>
                    <a:bodyPr/>
                    <a:lstStyle/>
                    <a:p>
                      <a:pPr indent="0" marL="0">
                        <a:buNone/>
                      </a:pPr>
                      <a:r>
                        <a:rPr lang="en-US" sz="1500" b="1" dirty="0">
                          <a:solidFill>
                            <a:schemeClr val="tx1"/>
                          </a:solidFill>
                        </a:rPr>
                        <a:t>Memory for pending jumps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Label table + all code held</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Lists of unfilled jump indices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4"/>
                    </a:solidFill>
                  </a:tcPr>
                </a:tc>
                <a:tc>
                  <a:txBody>
                    <a:bodyPr/>
                    <a:lstStyle/>
                    <a:p>
                      <a:pPr indent="0" marL="0">
                        <a:buNone/>
                      </a:pPr>
                      <a:r>
                        <a:rPr lang="en-US" sz="1500" dirty="0">
                          <a:solidFill>
                            <a:schemeClr val="tx1"/>
                          </a:solidFill>
                        </a:rPr>
                        <a:t>Block objects + CFG</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r h="685800">
                <a:tc>
                  <a:txBody>
                    <a:bodyPr/>
                    <a:lstStyle/>
                    <a:p>
                      <a:pPr indent="0" marL="0">
                        <a:buNone/>
                      </a:pPr>
                      <a:r>
                        <a:rPr lang="en-US" sz="1500" b="1" dirty="0">
                          <a:solidFill>
                            <a:schemeClr val="tx1"/>
                          </a:solidFill>
                        </a:rPr>
                        <a:t>Fit with Bison</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Easy, but needs a second pass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Natural: empty markers M and N</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4"/>
                    </a:solidFill>
                  </a:tcPr>
                </a:tc>
                <a:tc>
                  <a:txBody>
                    <a:bodyPr/>
                    <a:lstStyle/>
                    <a:p>
                      <a:pPr indent="0" marL="0">
                        <a:buNone/>
                      </a:pPr>
                      <a:r>
                        <a:rPr lang="en-US" sz="1500" dirty="0">
                          <a:solidFill>
                            <a:schemeClr val="tx1"/>
                          </a:solidFill>
                        </a:rPr>
                        <a:t>Heavy: needs an IR framework</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bl>
          </a:graphicData>
        </a:graphic>
      </p:graphicFrame>
      <p:sp>
        <p:nvSpPr>
          <p:cNvPr id="4" name="gap statement"/>
          <p:cNvSpPr/>
          <p:nvPr/>
        </p:nvSpPr>
        <p:spPr>
          <a:xfrm>
            <a:off x="548640" y="4572000"/>
            <a:ext cx="11064240" cy="1417320"/>
          </a:xfrm>
          <a:prstGeom prst="roundRect">
            <a:avLst>
              <a:gd name="adj" fmla="val 6452"/>
            </a:avLst>
          </a:prstGeom>
          <a:solidFill>
            <a:schemeClr val="accent3"/>
          </a:solidFill>
          <a:ln/>
        </p:spPr>
      </p:sp>
      <p:sp>
        <p:nvSpPr>
          <p:cNvPr id="5" name="Text 2"/>
          <p:cNvSpPr txBox="1"/>
          <p:nvPr/>
        </p:nvSpPr>
        <p:spPr>
          <a:xfrm>
            <a:off x="868680" y="4754880"/>
            <a:ext cx="10424160" cy="1097280"/>
          </a:xfrm>
          <a:prstGeom prst="rect">
            <a:avLst/>
          </a:prstGeom>
          <a:noFill/>
          <a:ln/>
        </p:spPr>
        <p:txBody>
          <a:bodyPr wrap="square" lIns="0" tIns="0" rIns="0" bIns="0" rtlCol="0" anchor="ctr"/>
          <a:lstStyle/>
          <a:p>
            <a:pPr indent="0" marL="0">
              <a:buNone/>
            </a:pPr>
            <a:r>
              <a:rPr lang="en-US" sz="1600" b="1" dirty="0">
                <a:solidFill>
                  <a:schemeClr val="accent2"/>
                </a:solidFill>
              </a:rPr>
              <a:t>The gap  </a:t>
            </a:r>
            <a:pPr indent="0" marL="0">
              <a:buNone/>
            </a:pPr>
            <a:r>
              <a:rPr lang="en-US" sz="1600" dirty="0">
                <a:solidFill>
                  <a:schemeClr val="tx1"/>
                </a:solidFill>
              </a:rPr>
              <a:t>Backpatching is textbook material, but its patch lists stay invisible: students see the finished code, not the moment each jump is created empty and later filled. Few student tools make the lists visible while code is generated.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Architecture: one pass, no separate IR pass</a:t>
            </a:r>
            <a:endParaRPr lang="en-US" sz="3400" dirty="0"/>
          </a:p>
        </p:txBody>
      </p:sp>
      <p:sp>
        <p:nvSpPr>
          <p:cNvPr id="3" name="stage Source program"/>
          <p:cNvSpPr/>
          <p:nvPr/>
        </p:nvSpPr>
        <p:spPr>
          <a:xfrm>
            <a:off x="548640" y="1554480"/>
            <a:ext cx="2468880" cy="1188720"/>
          </a:xfrm>
          <a:prstGeom prst="roundRect">
            <a:avLst>
              <a:gd name="adj" fmla="val 7692"/>
            </a:avLst>
          </a:prstGeom>
          <a:solidFill>
            <a:schemeClr val="bg2"/>
          </a:solidFill>
          <a:ln/>
        </p:spPr>
      </p:sp>
      <p:sp>
        <p:nvSpPr>
          <p:cNvPr id="4" name="Text 2"/>
          <p:cNvSpPr txBox="1"/>
          <p:nvPr/>
        </p:nvSpPr>
        <p:spPr>
          <a:xfrm>
            <a:off x="548640" y="1691640"/>
            <a:ext cx="2468880" cy="365760"/>
          </a:xfrm>
          <a:prstGeom prst="rect">
            <a:avLst/>
          </a:prstGeom>
          <a:noFill/>
          <a:ln/>
        </p:spPr>
        <p:txBody>
          <a:bodyPr wrap="square" lIns="0" tIns="0" rIns="0" bIns="0" rtlCol="0" anchor="t"/>
          <a:lstStyle/>
          <a:p>
            <a:pPr algn="ctr" indent="0" marL="0">
              <a:buNone/>
            </a:pPr>
            <a:r>
              <a:rPr lang="en-US" sz="1700" b="1" dirty="0">
                <a:solidFill>
                  <a:schemeClr val="tx1"/>
                </a:solidFill>
              </a:rPr>
              <a:t>Source program</a:t>
            </a:r>
            <a:endParaRPr lang="en-US" sz="1700" dirty="0"/>
          </a:p>
        </p:txBody>
      </p:sp>
      <p:sp>
        <p:nvSpPr>
          <p:cNvPr id="5" name="Text 3"/>
          <p:cNvSpPr txBox="1"/>
          <p:nvPr/>
        </p:nvSpPr>
        <p:spPr>
          <a:xfrm>
            <a:off x="548640" y="2103120"/>
            <a:ext cx="2468880" cy="548640"/>
          </a:xfrm>
          <a:prstGeom prst="rect">
            <a:avLst/>
          </a:prstGeom>
          <a:noFill/>
          <a:ln/>
        </p:spPr>
        <p:txBody>
          <a:bodyPr wrap="square" lIns="0" tIns="0" rIns="0" bIns="0" rtlCol="0" anchor="t"/>
          <a:lstStyle/>
          <a:p>
            <a:pPr algn="ctr" indent="0" marL="0">
              <a:buNone/>
            </a:pPr>
            <a:r>
              <a:rPr lang="en-US" sz="1400" dirty="0">
                <a:solidFill>
                  <a:schemeClr val="tx2"/>
                </a:solidFill>
              </a:rPr>
              <a:t>C-like subset</a:t>
            </a:r>
            <a:endParaRPr lang="en-US" sz="1400" dirty="0"/>
          </a:p>
          <a:p>
            <a:pPr algn="ctr" indent="0" marL="0">
              <a:buNone/>
            </a:pPr>
            <a:r>
              <a:rPr lang="en-US" sz="1400" dirty="0">
                <a:solidFill>
                  <a:schemeClr val="tx2"/>
                </a:solidFill>
              </a:rPr>
              <a:t>if / else / loops</a:t>
            </a:r>
            <a:endParaRPr lang="en-US" sz="1400" dirty="0"/>
          </a:p>
        </p:txBody>
      </p:sp>
      <p:sp>
        <p:nvSpPr>
          <p:cNvPr id="6" name="Shape 4"/>
          <p:cNvSpPr/>
          <p:nvPr/>
        </p:nvSpPr>
        <p:spPr>
          <a:xfrm>
            <a:off x="3017520" y="2148840"/>
            <a:ext cx="365760" cy="0"/>
          </a:xfrm>
          <a:prstGeom prst="line">
            <a:avLst/>
          </a:prstGeom>
          <a:noFill/>
          <a:ln w="19050">
            <a:solidFill>
              <a:srgbClr val="4A5568"/>
            </a:solidFill>
            <a:prstDash val="solid"/>
            <a:tailEnd type="triangle"/>
          </a:ln>
        </p:spPr>
      </p:sp>
      <p:sp>
        <p:nvSpPr>
          <p:cNvPr id="7" name="stage Lexer (Flex)"/>
          <p:cNvSpPr/>
          <p:nvPr/>
        </p:nvSpPr>
        <p:spPr>
          <a:xfrm>
            <a:off x="3383280" y="1554480"/>
            <a:ext cx="2468880" cy="1188720"/>
          </a:xfrm>
          <a:prstGeom prst="roundRect">
            <a:avLst>
              <a:gd name="adj" fmla="val 7692"/>
            </a:avLst>
          </a:prstGeom>
          <a:solidFill>
            <a:schemeClr val="bg2"/>
          </a:solidFill>
          <a:ln/>
        </p:spPr>
      </p:sp>
      <p:sp>
        <p:nvSpPr>
          <p:cNvPr id="8" name="Text 6"/>
          <p:cNvSpPr txBox="1"/>
          <p:nvPr/>
        </p:nvSpPr>
        <p:spPr>
          <a:xfrm>
            <a:off x="3383280" y="1691640"/>
            <a:ext cx="2468880" cy="365760"/>
          </a:xfrm>
          <a:prstGeom prst="rect">
            <a:avLst/>
          </a:prstGeom>
          <a:noFill/>
          <a:ln/>
        </p:spPr>
        <p:txBody>
          <a:bodyPr wrap="square" lIns="0" tIns="0" rIns="0" bIns="0" rtlCol="0" anchor="t"/>
          <a:lstStyle/>
          <a:p>
            <a:pPr algn="ctr" indent="0" marL="0">
              <a:buNone/>
            </a:pPr>
            <a:r>
              <a:rPr lang="en-US" sz="1700" b="1" dirty="0">
                <a:solidFill>
                  <a:schemeClr val="tx1"/>
                </a:solidFill>
              </a:rPr>
              <a:t>Lexer (Flex)</a:t>
            </a:r>
            <a:endParaRPr lang="en-US" sz="1700" dirty="0"/>
          </a:p>
        </p:txBody>
      </p:sp>
      <p:sp>
        <p:nvSpPr>
          <p:cNvPr id="9" name="Text 7"/>
          <p:cNvSpPr txBox="1"/>
          <p:nvPr/>
        </p:nvSpPr>
        <p:spPr>
          <a:xfrm>
            <a:off x="3383280" y="2103120"/>
            <a:ext cx="2468880" cy="548640"/>
          </a:xfrm>
          <a:prstGeom prst="rect">
            <a:avLst/>
          </a:prstGeom>
          <a:noFill/>
          <a:ln/>
        </p:spPr>
        <p:txBody>
          <a:bodyPr wrap="square" lIns="0" tIns="0" rIns="0" bIns="0" rtlCol="0" anchor="t"/>
          <a:lstStyle/>
          <a:p>
            <a:pPr algn="ctr" indent="0" marL="0">
              <a:buNone/>
            </a:pPr>
            <a:r>
              <a:rPr lang="en-US" sz="1400" dirty="0">
                <a:solidFill>
                  <a:schemeClr val="tx2"/>
                </a:solidFill>
              </a:rPr>
              <a:t>tokens + line no.</a:t>
            </a:r>
            <a:endParaRPr lang="en-US" sz="1400" dirty="0"/>
          </a:p>
          <a:p>
            <a:pPr algn="ctr" indent="0" marL="0">
              <a:buNone/>
            </a:pPr>
            <a:r>
              <a:rPr lang="en-US" sz="1400" dirty="0">
                <a:solidFill>
                  <a:schemeClr val="tx2"/>
                </a:solidFill>
              </a:rPr>
              <a:t>lexer.l</a:t>
            </a:r>
            <a:endParaRPr lang="en-US" sz="1400" dirty="0"/>
          </a:p>
        </p:txBody>
      </p:sp>
      <p:sp>
        <p:nvSpPr>
          <p:cNvPr id="10" name="Shape 8"/>
          <p:cNvSpPr/>
          <p:nvPr/>
        </p:nvSpPr>
        <p:spPr>
          <a:xfrm>
            <a:off x="5852160" y="2148840"/>
            <a:ext cx="365760" cy="0"/>
          </a:xfrm>
          <a:prstGeom prst="line">
            <a:avLst/>
          </a:prstGeom>
          <a:noFill/>
          <a:ln w="19050">
            <a:solidFill>
              <a:srgbClr val="4A5568"/>
            </a:solidFill>
            <a:prstDash val="solid"/>
            <a:tailEnd type="triangle"/>
          </a:ln>
        </p:spPr>
      </p:sp>
      <p:sp>
        <p:nvSpPr>
          <p:cNvPr id="11" name="stage Parser (Bison)"/>
          <p:cNvSpPr/>
          <p:nvPr/>
        </p:nvSpPr>
        <p:spPr>
          <a:xfrm>
            <a:off x="6217920" y="1554480"/>
            <a:ext cx="2468880" cy="1188720"/>
          </a:xfrm>
          <a:prstGeom prst="roundRect">
            <a:avLst>
              <a:gd name="adj" fmla="val 7692"/>
            </a:avLst>
          </a:prstGeom>
          <a:solidFill>
            <a:schemeClr val="accent3"/>
          </a:solidFill>
          <a:ln/>
        </p:spPr>
      </p:sp>
      <p:sp>
        <p:nvSpPr>
          <p:cNvPr id="12" name="Text 10"/>
          <p:cNvSpPr txBox="1"/>
          <p:nvPr/>
        </p:nvSpPr>
        <p:spPr>
          <a:xfrm>
            <a:off x="6217920" y="1691640"/>
            <a:ext cx="2468880" cy="365760"/>
          </a:xfrm>
          <a:prstGeom prst="rect">
            <a:avLst/>
          </a:prstGeom>
          <a:noFill/>
          <a:ln/>
        </p:spPr>
        <p:txBody>
          <a:bodyPr wrap="square" lIns="0" tIns="0" rIns="0" bIns="0" rtlCol="0" anchor="t"/>
          <a:lstStyle/>
          <a:p>
            <a:pPr algn="ctr" indent="0" marL="0">
              <a:buNone/>
            </a:pPr>
            <a:r>
              <a:rPr lang="en-US" sz="1700" b="1" dirty="0">
                <a:solidFill>
                  <a:schemeClr val="tx1"/>
                </a:solidFill>
              </a:rPr>
              <a:t>Parser (Bison)</a:t>
            </a:r>
            <a:endParaRPr lang="en-US" sz="1700" dirty="0"/>
          </a:p>
        </p:txBody>
      </p:sp>
      <p:sp>
        <p:nvSpPr>
          <p:cNvPr id="13" name="Text 11"/>
          <p:cNvSpPr txBox="1"/>
          <p:nvPr/>
        </p:nvSpPr>
        <p:spPr>
          <a:xfrm>
            <a:off x="6217920" y="2103120"/>
            <a:ext cx="2468880" cy="548640"/>
          </a:xfrm>
          <a:prstGeom prst="rect">
            <a:avLst/>
          </a:prstGeom>
          <a:noFill/>
          <a:ln/>
        </p:spPr>
        <p:txBody>
          <a:bodyPr wrap="square" lIns="0" tIns="0" rIns="0" bIns="0" rtlCol="0" anchor="t"/>
          <a:lstStyle/>
          <a:p>
            <a:pPr algn="ctr" indent="0" marL="0">
              <a:buNone/>
            </a:pPr>
            <a:r>
              <a:rPr lang="en-US" sz="1400" dirty="0">
                <a:solidFill>
                  <a:schemeClr val="tx2"/>
                </a:solidFill>
              </a:rPr>
              <a:t>grammar + M, N, W markers</a:t>
            </a:r>
            <a:endParaRPr lang="en-US" sz="1400" dirty="0"/>
          </a:p>
          <a:p>
            <a:pPr algn="ctr" indent="0" marL="0">
              <a:buNone/>
            </a:pPr>
            <a:r>
              <a:rPr lang="en-US" sz="1400" dirty="0">
                <a:solidFill>
                  <a:schemeClr val="tx2"/>
                </a:solidFill>
              </a:rPr>
              <a:t>parser.y</a:t>
            </a:r>
            <a:endParaRPr lang="en-US" sz="1400" dirty="0"/>
          </a:p>
        </p:txBody>
      </p:sp>
      <p:sp>
        <p:nvSpPr>
          <p:cNvPr id="14" name="Shape 12"/>
          <p:cNvSpPr/>
          <p:nvPr/>
        </p:nvSpPr>
        <p:spPr>
          <a:xfrm>
            <a:off x="8686800" y="2148840"/>
            <a:ext cx="365760" cy="0"/>
          </a:xfrm>
          <a:prstGeom prst="line">
            <a:avLst/>
          </a:prstGeom>
          <a:noFill/>
          <a:ln w="19050">
            <a:solidFill>
              <a:srgbClr val="4A5568"/>
            </a:solidFill>
            <a:prstDash val="solid"/>
            <a:tailEnd type="triangle"/>
          </a:ln>
        </p:spPr>
      </p:sp>
      <p:sp>
        <p:nvSpPr>
          <p:cNvPr id="15" name="stage Output"/>
          <p:cNvSpPr/>
          <p:nvPr/>
        </p:nvSpPr>
        <p:spPr>
          <a:xfrm>
            <a:off x="9052560" y="1554480"/>
            <a:ext cx="2468880" cy="1188720"/>
          </a:xfrm>
          <a:prstGeom prst="roundRect">
            <a:avLst>
              <a:gd name="adj" fmla="val 7692"/>
            </a:avLst>
          </a:prstGeom>
          <a:solidFill>
            <a:schemeClr val="bg2"/>
          </a:solidFill>
          <a:ln/>
        </p:spPr>
      </p:sp>
      <p:sp>
        <p:nvSpPr>
          <p:cNvPr id="16" name="Text 14"/>
          <p:cNvSpPr txBox="1"/>
          <p:nvPr/>
        </p:nvSpPr>
        <p:spPr>
          <a:xfrm>
            <a:off x="9052560" y="1691640"/>
            <a:ext cx="2468880" cy="365760"/>
          </a:xfrm>
          <a:prstGeom prst="rect">
            <a:avLst/>
          </a:prstGeom>
          <a:noFill/>
          <a:ln/>
        </p:spPr>
        <p:txBody>
          <a:bodyPr wrap="square" lIns="0" tIns="0" rIns="0" bIns="0" rtlCol="0" anchor="t"/>
          <a:lstStyle/>
          <a:p>
            <a:pPr algn="ctr" indent="0" marL="0">
              <a:buNone/>
            </a:pPr>
            <a:r>
              <a:rPr lang="en-US" sz="1700" b="1" dirty="0">
                <a:solidFill>
                  <a:schemeClr val="tx1"/>
                </a:solidFill>
              </a:rPr>
              <a:t>Output</a:t>
            </a:r>
            <a:endParaRPr lang="en-US" sz="1700" dirty="0"/>
          </a:p>
        </p:txBody>
      </p:sp>
      <p:sp>
        <p:nvSpPr>
          <p:cNvPr id="17" name="Text 15"/>
          <p:cNvSpPr txBox="1"/>
          <p:nvPr/>
        </p:nvSpPr>
        <p:spPr>
          <a:xfrm>
            <a:off x="9052560" y="2103120"/>
            <a:ext cx="2468880" cy="548640"/>
          </a:xfrm>
          <a:prstGeom prst="rect">
            <a:avLst/>
          </a:prstGeom>
          <a:noFill/>
          <a:ln/>
        </p:spPr>
        <p:txBody>
          <a:bodyPr wrap="square" lIns="0" tIns="0" rIns="0" bIns="0" rtlCol="0" anchor="t"/>
          <a:lstStyle/>
          <a:p>
            <a:pPr algn="ctr" indent="0" marL="0">
              <a:buNone/>
            </a:pPr>
            <a:r>
              <a:rPr lang="en-US" sz="1400" dirty="0">
                <a:solidFill>
                  <a:schemeClr val="tx2"/>
                </a:solidFill>
              </a:rPr>
              <a:t>TAC, quad table, trace</a:t>
            </a:r>
            <a:endParaRPr lang="en-US" sz="1400" dirty="0"/>
          </a:p>
          <a:p>
            <a:pPr algn="ctr" indent="0" marL="0">
              <a:buNone/>
            </a:pPr>
            <a:r>
              <a:rPr lang="en-US" sz="1400" dirty="0">
                <a:solidFill>
                  <a:schemeClr val="tx2"/>
                </a:solidFill>
              </a:rPr>
              <a:t>--format  --trace  --step</a:t>
            </a:r>
            <a:endParaRPr lang="en-US" sz="1400" dirty="0"/>
          </a:p>
        </p:txBody>
      </p:sp>
      <p:sp>
        <p:nvSpPr>
          <p:cNvPr id="18" name="Shape 16"/>
          <p:cNvSpPr/>
          <p:nvPr/>
        </p:nvSpPr>
        <p:spPr>
          <a:xfrm>
            <a:off x="6903720" y="2743200"/>
            <a:ext cx="0" cy="685800"/>
          </a:xfrm>
          <a:prstGeom prst="line">
            <a:avLst/>
          </a:prstGeom>
          <a:noFill/>
          <a:ln w="19050">
            <a:solidFill>
              <a:srgbClr val="4A5568"/>
            </a:solidFill>
            <a:prstDash val="solid"/>
          </a:ln>
        </p:spPr>
      </p:sp>
      <p:sp>
        <p:nvSpPr>
          <p:cNvPr id="19" name="Shape 17"/>
          <p:cNvSpPr/>
          <p:nvPr/>
        </p:nvSpPr>
        <p:spPr>
          <a:xfrm>
            <a:off x="4389120" y="3429000"/>
            <a:ext cx="5852160" cy="0"/>
          </a:xfrm>
          <a:prstGeom prst="line">
            <a:avLst/>
          </a:prstGeom>
          <a:noFill/>
          <a:ln w="19050">
            <a:solidFill>
              <a:srgbClr val="4A5568"/>
            </a:solidFill>
            <a:prstDash val="solid"/>
          </a:ln>
        </p:spPr>
      </p:sp>
      <p:sp>
        <p:nvSpPr>
          <p:cNvPr id="20" name="Text 18"/>
          <p:cNvSpPr txBox="1"/>
          <p:nvPr/>
        </p:nvSpPr>
        <p:spPr>
          <a:xfrm>
            <a:off x="7086600" y="3063240"/>
            <a:ext cx="2286000" cy="274320"/>
          </a:xfrm>
          <a:prstGeom prst="rect">
            <a:avLst/>
          </a:prstGeom>
          <a:noFill/>
          <a:ln/>
        </p:spPr>
        <p:txBody>
          <a:bodyPr wrap="square" lIns="0" tIns="0" rIns="0" bIns="0" rtlCol="0" anchor="t"/>
          <a:lstStyle/>
          <a:p>
            <a:pPr indent="0" marL="0">
              <a:buNone/>
            </a:pPr>
            <a:r>
              <a:rPr lang="en-US" sz="1200" i="1" dirty="0">
                <a:solidFill>
                  <a:schemeClr val="tx2"/>
                </a:solidFill>
              </a:rPr>
              <a:t>semantic actions call</a:t>
            </a:r>
            <a:endParaRPr lang="en-US" sz="1200" dirty="0"/>
          </a:p>
        </p:txBody>
      </p:sp>
      <p:sp>
        <p:nvSpPr>
          <p:cNvPr id="21" name="Shape 19"/>
          <p:cNvSpPr/>
          <p:nvPr/>
        </p:nvSpPr>
        <p:spPr>
          <a:xfrm>
            <a:off x="4389120" y="3429000"/>
            <a:ext cx="0" cy="457200"/>
          </a:xfrm>
          <a:prstGeom prst="line">
            <a:avLst/>
          </a:prstGeom>
          <a:noFill/>
          <a:ln w="19050">
            <a:solidFill>
              <a:srgbClr val="4A5568"/>
            </a:solidFill>
            <a:prstDash val="solid"/>
            <a:tailEnd type="triangle"/>
          </a:ln>
        </p:spPr>
      </p:sp>
      <p:sp>
        <p:nvSpPr>
          <p:cNvPr id="22" name="module Symbol table"/>
          <p:cNvSpPr/>
          <p:nvPr/>
        </p:nvSpPr>
        <p:spPr>
          <a:xfrm>
            <a:off x="3063240" y="3886200"/>
            <a:ext cx="2651760" cy="1234440"/>
          </a:xfrm>
          <a:prstGeom prst="roundRect">
            <a:avLst>
              <a:gd name="adj" fmla="val 7407"/>
            </a:avLst>
          </a:prstGeom>
          <a:solidFill>
            <a:schemeClr val="bg2"/>
          </a:solidFill>
          <a:ln/>
        </p:spPr>
      </p:sp>
      <p:sp>
        <p:nvSpPr>
          <p:cNvPr id="23" name="Text 21"/>
          <p:cNvSpPr txBox="1"/>
          <p:nvPr/>
        </p:nvSpPr>
        <p:spPr>
          <a:xfrm>
            <a:off x="3063240" y="4023360"/>
            <a:ext cx="2651760" cy="365760"/>
          </a:xfrm>
          <a:prstGeom prst="rect">
            <a:avLst/>
          </a:prstGeom>
          <a:noFill/>
          <a:ln/>
        </p:spPr>
        <p:txBody>
          <a:bodyPr wrap="square" lIns="0" tIns="0" rIns="0" bIns="0" rtlCol="0" anchor="t"/>
          <a:lstStyle/>
          <a:p>
            <a:pPr algn="ctr" indent="0" marL="0">
              <a:buNone/>
            </a:pPr>
            <a:r>
              <a:rPr lang="en-US" sz="1700" b="1" dirty="0">
                <a:solidFill>
                  <a:schemeClr val="tx1"/>
                </a:solidFill>
              </a:rPr>
              <a:t>Symbol table</a:t>
            </a:r>
            <a:endParaRPr lang="en-US" sz="1700" dirty="0"/>
          </a:p>
        </p:txBody>
      </p:sp>
      <p:sp>
        <p:nvSpPr>
          <p:cNvPr id="24" name="Text 22"/>
          <p:cNvSpPr txBox="1"/>
          <p:nvPr/>
        </p:nvSpPr>
        <p:spPr>
          <a:xfrm>
            <a:off x="3063240" y="4434840"/>
            <a:ext cx="2651760" cy="548640"/>
          </a:xfrm>
          <a:prstGeom prst="rect">
            <a:avLst/>
          </a:prstGeom>
          <a:noFill/>
          <a:ln/>
        </p:spPr>
        <p:txBody>
          <a:bodyPr wrap="square" lIns="0" tIns="0" rIns="0" bIns="0" rtlCol="0" anchor="t"/>
          <a:lstStyle/>
          <a:p>
            <a:pPr algn="ctr" indent="0" marL="0">
              <a:buNone/>
            </a:pPr>
            <a:r>
              <a:rPr lang="en-US" sz="1400" dirty="0">
                <a:solidFill>
                  <a:schemeClr val="tx2"/>
                </a:solidFill>
              </a:rPr>
              <a:t>symtab_insert()</a:t>
            </a:r>
            <a:endParaRPr lang="en-US" sz="1400" dirty="0"/>
          </a:p>
          <a:p>
            <a:pPr algn="ctr" indent="0" marL="0">
              <a:buNone/>
            </a:pPr>
            <a:r>
              <a:rPr lang="en-US" sz="1400" dirty="0">
                <a:solidFill>
                  <a:schemeClr val="tx2"/>
                </a:solidFill>
              </a:rPr>
              <a:t>in parser.y</a:t>
            </a:r>
            <a:endParaRPr lang="en-US" sz="1400" dirty="0"/>
          </a:p>
        </p:txBody>
      </p:sp>
      <p:sp>
        <p:nvSpPr>
          <p:cNvPr id="25" name="Shape 23"/>
          <p:cNvSpPr/>
          <p:nvPr/>
        </p:nvSpPr>
        <p:spPr>
          <a:xfrm>
            <a:off x="7315200" y="3429000"/>
            <a:ext cx="0" cy="457200"/>
          </a:xfrm>
          <a:prstGeom prst="line">
            <a:avLst/>
          </a:prstGeom>
          <a:noFill/>
          <a:ln w="19050">
            <a:solidFill>
              <a:srgbClr val="4A5568"/>
            </a:solidFill>
            <a:prstDash val="solid"/>
            <a:tailEnd type="triangle"/>
          </a:ln>
        </p:spPr>
      </p:sp>
      <p:sp>
        <p:nvSpPr>
          <p:cNvPr id="26" name="module Quad table"/>
          <p:cNvSpPr/>
          <p:nvPr/>
        </p:nvSpPr>
        <p:spPr>
          <a:xfrm>
            <a:off x="5989320" y="3886200"/>
            <a:ext cx="2651760" cy="1234440"/>
          </a:xfrm>
          <a:prstGeom prst="roundRect">
            <a:avLst>
              <a:gd name="adj" fmla="val 7407"/>
            </a:avLst>
          </a:prstGeom>
          <a:solidFill>
            <a:schemeClr val="bg2"/>
          </a:solidFill>
          <a:ln/>
        </p:spPr>
      </p:sp>
      <p:sp>
        <p:nvSpPr>
          <p:cNvPr id="27" name="Text 25"/>
          <p:cNvSpPr txBox="1"/>
          <p:nvPr/>
        </p:nvSpPr>
        <p:spPr>
          <a:xfrm>
            <a:off x="5989320" y="4023360"/>
            <a:ext cx="2651760" cy="365760"/>
          </a:xfrm>
          <a:prstGeom prst="rect">
            <a:avLst/>
          </a:prstGeom>
          <a:noFill/>
          <a:ln/>
        </p:spPr>
        <p:txBody>
          <a:bodyPr wrap="square" lIns="0" tIns="0" rIns="0" bIns="0" rtlCol="0" anchor="t"/>
          <a:lstStyle/>
          <a:p>
            <a:pPr algn="ctr" indent="0" marL="0">
              <a:buNone/>
            </a:pPr>
            <a:r>
              <a:rPr lang="en-US" sz="1700" b="1" dirty="0">
                <a:solidFill>
                  <a:schemeClr val="tx1"/>
                </a:solidFill>
              </a:rPr>
              <a:t>Quad table</a:t>
            </a:r>
            <a:endParaRPr lang="en-US" sz="1700" dirty="0"/>
          </a:p>
        </p:txBody>
      </p:sp>
      <p:sp>
        <p:nvSpPr>
          <p:cNvPr id="28" name="Text 26"/>
          <p:cNvSpPr txBox="1"/>
          <p:nvPr/>
        </p:nvSpPr>
        <p:spPr>
          <a:xfrm>
            <a:off x="5989320" y="4434840"/>
            <a:ext cx="2651760" cy="548640"/>
          </a:xfrm>
          <a:prstGeom prst="rect">
            <a:avLst/>
          </a:prstGeom>
          <a:noFill/>
          <a:ln/>
        </p:spPr>
        <p:txBody>
          <a:bodyPr wrap="square" lIns="0" tIns="0" rIns="0" bIns="0" rtlCol="0" anchor="t"/>
          <a:lstStyle/>
          <a:p>
            <a:pPr algn="ctr" indent="0" marL="0">
              <a:buNone/>
            </a:pPr>
            <a:r>
              <a:rPr lang="en-US" sz="1400" dirty="0">
                <a:solidFill>
                  <a:schemeClr val="tx2"/>
                </a:solidFill>
              </a:rPr>
              <a:t>emit(), newtemp()</a:t>
            </a:r>
            <a:endParaRPr lang="en-US" sz="1400" dirty="0"/>
          </a:p>
          <a:p>
            <a:pPr algn="ctr" indent="0" marL="0">
              <a:buNone/>
            </a:pPr>
            <a:r>
              <a:rPr lang="en-US" sz="1400" dirty="0">
                <a:solidFill>
                  <a:schemeClr val="tx2"/>
                </a:solidFill>
              </a:rPr>
              <a:t>in parser.y</a:t>
            </a:r>
            <a:endParaRPr lang="en-US" sz="1400" dirty="0"/>
          </a:p>
        </p:txBody>
      </p:sp>
      <p:sp>
        <p:nvSpPr>
          <p:cNvPr id="29" name="Shape 27"/>
          <p:cNvSpPr/>
          <p:nvPr/>
        </p:nvSpPr>
        <p:spPr>
          <a:xfrm>
            <a:off x="10241280" y="3429000"/>
            <a:ext cx="0" cy="457200"/>
          </a:xfrm>
          <a:prstGeom prst="line">
            <a:avLst/>
          </a:prstGeom>
          <a:noFill/>
          <a:ln w="19050">
            <a:solidFill>
              <a:srgbClr val="4A5568"/>
            </a:solidFill>
            <a:prstDash val="solid"/>
            <a:tailEnd type="triangle"/>
          </a:ln>
        </p:spPr>
      </p:sp>
      <p:sp>
        <p:nvSpPr>
          <p:cNvPr id="30" name="module Patch lists"/>
          <p:cNvSpPr/>
          <p:nvPr/>
        </p:nvSpPr>
        <p:spPr>
          <a:xfrm>
            <a:off x="8915400" y="3886200"/>
            <a:ext cx="2651760" cy="1234440"/>
          </a:xfrm>
          <a:prstGeom prst="roundRect">
            <a:avLst>
              <a:gd name="adj" fmla="val 7407"/>
            </a:avLst>
          </a:prstGeom>
          <a:solidFill>
            <a:schemeClr val="accent1"/>
          </a:solidFill>
          <a:ln/>
        </p:spPr>
      </p:sp>
      <p:sp>
        <p:nvSpPr>
          <p:cNvPr id="31" name="Text 29"/>
          <p:cNvSpPr txBox="1"/>
          <p:nvPr/>
        </p:nvSpPr>
        <p:spPr>
          <a:xfrm>
            <a:off x="8915400" y="4023360"/>
            <a:ext cx="2651760" cy="365760"/>
          </a:xfrm>
          <a:prstGeom prst="rect">
            <a:avLst/>
          </a:prstGeom>
          <a:noFill/>
          <a:ln/>
        </p:spPr>
        <p:txBody>
          <a:bodyPr wrap="square" lIns="0" tIns="0" rIns="0" bIns="0" rtlCol="0" anchor="t"/>
          <a:lstStyle/>
          <a:p>
            <a:pPr algn="ctr" indent="0" marL="0">
              <a:buNone/>
            </a:pPr>
            <a:r>
              <a:rPr lang="en-US" sz="1700" b="1" dirty="0">
                <a:solidFill>
                  <a:schemeClr val="tx1"/>
                </a:solidFill>
              </a:rPr>
              <a:t>Patch lists</a:t>
            </a:r>
            <a:endParaRPr lang="en-US" sz="1700" dirty="0"/>
          </a:p>
        </p:txBody>
      </p:sp>
      <p:sp>
        <p:nvSpPr>
          <p:cNvPr id="32" name="Text 30"/>
          <p:cNvSpPr txBox="1"/>
          <p:nvPr/>
        </p:nvSpPr>
        <p:spPr>
          <a:xfrm>
            <a:off x="8915400" y="4434840"/>
            <a:ext cx="2651760" cy="548640"/>
          </a:xfrm>
          <a:prstGeom prst="rect">
            <a:avLst/>
          </a:prstGeom>
          <a:noFill/>
          <a:ln/>
        </p:spPr>
        <p:txBody>
          <a:bodyPr wrap="square" lIns="0" tIns="0" rIns="0" bIns="0" rtlCol="0" anchor="t"/>
          <a:lstStyle/>
          <a:p>
            <a:pPr algn="ctr" indent="0" marL="0">
              <a:buNone/>
            </a:pPr>
            <a:r>
              <a:rPr lang="en-US" sz="1400" dirty="0">
                <a:solidFill>
                  <a:schemeClr val="tx1"/>
                </a:solidFill>
              </a:rPr>
              <a:t>makelist, merge, backpatch</a:t>
            </a:r>
            <a:endParaRPr lang="en-US" sz="1400" dirty="0"/>
          </a:p>
          <a:p>
            <a:pPr algn="ctr" indent="0" marL="0">
              <a:buNone/>
            </a:pPr>
            <a:r>
              <a:rPr lang="en-US" sz="1400" dirty="0">
                <a:solidFill>
                  <a:schemeClr val="tx1"/>
                </a:solidFill>
              </a:rPr>
              <a:t>+ loop stack, in parser.y</a:t>
            </a:r>
            <a:endParaRPr lang="en-US" sz="1400" dirty="0"/>
          </a:p>
        </p:txBody>
      </p:sp>
      <p:sp>
        <p:nvSpPr>
          <p:cNvPr id="33" name="Text 31"/>
          <p:cNvSpPr txBox="1"/>
          <p:nvPr/>
        </p:nvSpPr>
        <p:spPr>
          <a:xfrm>
            <a:off x="548640" y="5440680"/>
            <a:ext cx="11064240" cy="731520"/>
          </a:xfrm>
          <a:prstGeom prst="rect">
            <a:avLst/>
          </a:prstGeom>
          <a:noFill/>
          <a:ln/>
        </p:spPr>
        <p:txBody>
          <a:bodyPr wrap="square" lIns="0" tIns="0" rIns="0" bIns="0" rtlCol="0" anchor="t"/>
          <a:lstStyle/>
          <a:p>
            <a:pPr indent="0" marL="0">
              <a:buNone/>
            </a:pPr>
            <a:r>
              <a:rPr lang="en-US" sz="1500" dirty="0">
                <a:solidFill>
                  <a:schemeClr val="tx2"/>
                </a:solidFill>
              </a:rPr>
              <a:t>Each rule's action emits quadruples as it reduces. A jump is emitted with an empty target and its index stored in a patch list; the list is filled the moment a marker M supplies the instruction number.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Translation scheme for conditions and if</a:t>
            </a:r>
            <a:endParaRPr lang="en-US" sz="3400" dirty="0"/>
          </a:p>
        </p:txBody>
      </p:sp>
      <p:sp>
        <p:nvSpPr>
          <p:cNvPr id="3" name="boolean rules"/>
          <p:cNvSpPr/>
          <p:nvPr/>
        </p:nvSpPr>
        <p:spPr>
          <a:xfrm>
            <a:off x="548640" y="1371600"/>
            <a:ext cx="5212080" cy="3017520"/>
          </a:xfrm>
          <a:prstGeom prst="roundRect">
            <a:avLst>
              <a:gd name="adj" fmla="val 2424"/>
            </a:avLst>
          </a:prstGeom>
          <a:solidFill>
            <a:schemeClr val="tx1"/>
          </a:solidFill>
          <a:ln/>
        </p:spPr>
      </p:sp>
      <p:sp>
        <p:nvSpPr>
          <p:cNvPr id="4" name="Text 2"/>
          <p:cNvSpPr txBox="1"/>
          <p:nvPr/>
        </p:nvSpPr>
        <p:spPr>
          <a:xfrm>
            <a:off x="822960" y="1600200"/>
            <a:ext cx="4663440" cy="2560320"/>
          </a:xfrm>
          <a:prstGeom prst="rect">
            <a:avLst/>
          </a:prstGeom>
          <a:noFill/>
          <a:ln/>
        </p:spPr>
        <p:txBody>
          <a:bodyPr wrap="square" lIns="0" tIns="0" rIns="0" bIns="0" rtlCol="0" anchor="t"/>
          <a:lstStyle/>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B → E1 relop E2</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B.truelist  = makelist(nextinstr)</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B.falselist = makelist(nextinstr+1)</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emit("if E1 relop E2 goto _")</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emit("goto _")</a:t>
            </a:r>
            <a:endParaRPr lang="en-US" sz="1500" dirty="0"/>
          </a:p>
          <a:p>
            <a:pPr indent="0" marL="0">
              <a:lnSpc>
                <a:spcPct val="105000"/>
              </a:lnSpc>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M → ε</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M.instr = nextinstr</a:t>
            </a:r>
            <a:endParaRPr lang="en-US" sz="1500" dirty="0"/>
          </a:p>
        </p:txBody>
      </p:sp>
      <p:sp>
        <p:nvSpPr>
          <p:cNvPr id="5" name="statement rules"/>
          <p:cNvSpPr/>
          <p:nvPr/>
        </p:nvSpPr>
        <p:spPr>
          <a:xfrm>
            <a:off x="6035040" y="1371600"/>
            <a:ext cx="5577840" cy="3017520"/>
          </a:xfrm>
          <a:prstGeom prst="roundRect">
            <a:avLst>
              <a:gd name="adj" fmla="val 2424"/>
            </a:avLst>
          </a:prstGeom>
          <a:solidFill>
            <a:schemeClr val="tx1"/>
          </a:solidFill>
          <a:ln/>
        </p:spPr>
      </p:sp>
      <p:sp>
        <p:nvSpPr>
          <p:cNvPr id="6" name="Text 4"/>
          <p:cNvSpPr txBox="1"/>
          <p:nvPr/>
        </p:nvSpPr>
        <p:spPr>
          <a:xfrm>
            <a:off x="6309360" y="1600200"/>
            <a:ext cx="5029200" cy="2560320"/>
          </a:xfrm>
          <a:prstGeom prst="rect">
            <a:avLst/>
          </a:prstGeom>
          <a:noFill/>
          <a:ln/>
        </p:spPr>
        <p:txBody>
          <a:bodyPr wrap="square" lIns="0" tIns="0" rIns="0" bIns="0" rtlCol="0" anchor="t"/>
          <a:lstStyle/>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S → if ( B ) M S1</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backpatch(B.truelist, M.instr)</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S.nextlist = merge(B.falselist,</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S1.nextlist)</a:t>
            </a:r>
            <a:endParaRPr lang="en-US" sz="1500" dirty="0"/>
          </a:p>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L → L1 M S</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backpatch(L1.nextlist, M.instr)</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L.nextlist = S.nextlist</a:t>
            </a:r>
            <a:endParaRPr lang="en-US" sz="1500" dirty="0"/>
          </a:p>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program → L</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backpatch(L.nextlist, nextinstr)</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emit("halt")</a:t>
            </a:r>
            <a:endParaRPr lang="en-US" sz="1500" dirty="0"/>
          </a:p>
        </p:txBody>
      </p:sp>
      <p:sp>
        <p:nvSpPr>
          <p:cNvPr id="7" name="dangling else note"/>
          <p:cNvSpPr/>
          <p:nvPr/>
        </p:nvSpPr>
        <p:spPr>
          <a:xfrm>
            <a:off x="548640" y="4663440"/>
            <a:ext cx="11064240" cy="1188720"/>
          </a:xfrm>
          <a:prstGeom prst="roundRect">
            <a:avLst>
              <a:gd name="adj" fmla="val 7692"/>
            </a:avLst>
          </a:prstGeom>
          <a:solidFill>
            <a:schemeClr val="bg2"/>
          </a:solidFill>
          <a:ln/>
        </p:spPr>
      </p:sp>
      <p:sp>
        <p:nvSpPr>
          <p:cNvPr id="8" name="Text 6"/>
          <p:cNvSpPr txBox="1"/>
          <p:nvPr/>
        </p:nvSpPr>
        <p:spPr>
          <a:xfrm>
            <a:off x="868680" y="4800600"/>
            <a:ext cx="10424160" cy="914400"/>
          </a:xfrm>
          <a:prstGeom prst="rect">
            <a:avLst/>
          </a:prstGeom>
          <a:noFill/>
          <a:ln/>
        </p:spPr>
        <p:txBody>
          <a:bodyPr wrap="square" lIns="0" tIns="0" rIns="0" bIns="0" rtlCol="0" anchor="ctr"/>
          <a:lstStyle/>
          <a:p>
            <a:pPr indent="0" marL="0">
              <a:buNone/>
            </a:pPr>
            <a:r>
              <a:rPr lang="en-US" sz="1500" b="1" dirty="0">
                <a:solidFill>
                  <a:schemeClr val="accent2"/>
                </a:solidFill>
              </a:rPr>
              <a:t>Dangling else  </a:t>
            </a:r>
            <a:pPr indent="0" marL="0">
              <a:buNone/>
            </a:pPr>
            <a:r>
              <a:rPr lang="en-US" sz="1500" dirty="0">
                <a:solidFill>
                  <a:schemeClr val="tx1"/>
                </a:solidFill>
              </a:rPr>
              <a:t>%nonassoc LOWER_THAN_ELSE / ELSE makes else bind to the nearest if; %expect 0 makes the build fail on any conflict. N is placed after else so the choice is shift/reduce, which precedence can resolve, not reduce/reduce.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Translation scheme for &amp;&amp; || ! and loops</a:t>
            </a:r>
            <a:endParaRPr lang="en-US" sz="3400" dirty="0"/>
          </a:p>
        </p:txBody>
      </p:sp>
      <p:sp>
        <p:nvSpPr>
          <p:cNvPr id="3" name="boolean rules"/>
          <p:cNvSpPr/>
          <p:nvPr/>
        </p:nvSpPr>
        <p:spPr>
          <a:xfrm>
            <a:off x="548640" y="1371600"/>
            <a:ext cx="5212080" cy="3017520"/>
          </a:xfrm>
          <a:prstGeom prst="roundRect">
            <a:avLst>
              <a:gd name="adj" fmla="val 2424"/>
            </a:avLst>
          </a:prstGeom>
          <a:solidFill>
            <a:schemeClr val="tx1"/>
          </a:solidFill>
          <a:ln/>
        </p:spPr>
      </p:sp>
      <p:sp>
        <p:nvSpPr>
          <p:cNvPr id="4" name="Text 2"/>
          <p:cNvSpPr txBox="1"/>
          <p:nvPr/>
        </p:nvSpPr>
        <p:spPr>
          <a:xfrm>
            <a:off x="822960" y="1600200"/>
            <a:ext cx="4663440" cy="2560320"/>
          </a:xfrm>
          <a:prstGeom prst="rect">
            <a:avLst/>
          </a:prstGeom>
          <a:noFill/>
          <a:ln/>
        </p:spPr>
        <p:txBody>
          <a:bodyPr wrap="square" lIns="0" tIns="0" rIns="0" bIns="0" rtlCol="0" anchor="t"/>
          <a:lstStyle/>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B → B1 &amp;&amp; M B2</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backpatch(B1.truelist, M.instr)</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B.truelist  = B2.truelist</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B.falselist = merge(B1.falselist,</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B2.falselist)</a:t>
            </a:r>
            <a:endParaRPr lang="en-US" sz="1500" dirty="0"/>
          </a:p>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B → B1 || M B2</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the same, true and false swapped</a:t>
            </a:r>
            <a:endParaRPr lang="en-US" sz="1500" dirty="0"/>
          </a:p>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B → ! B1</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swap B.truelist and B.falselist</a:t>
            </a:r>
            <a:endParaRPr lang="en-US" sz="1500" dirty="0"/>
          </a:p>
        </p:txBody>
      </p:sp>
      <p:sp>
        <p:nvSpPr>
          <p:cNvPr id="5" name="statement rules"/>
          <p:cNvSpPr/>
          <p:nvPr/>
        </p:nvSpPr>
        <p:spPr>
          <a:xfrm>
            <a:off x="6035040" y="1371600"/>
            <a:ext cx="5577840" cy="3017520"/>
          </a:xfrm>
          <a:prstGeom prst="roundRect">
            <a:avLst>
              <a:gd name="adj" fmla="val 2424"/>
            </a:avLst>
          </a:prstGeom>
          <a:solidFill>
            <a:schemeClr val="tx1"/>
          </a:solidFill>
          <a:ln/>
        </p:spPr>
      </p:sp>
      <p:sp>
        <p:nvSpPr>
          <p:cNvPr id="6" name="Text 4"/>
          <p:cNvSpPr txBox="1"/>
          <p:nvPr/>
        </p:nvSpPr>
        <p:spPr>
          <a:xfrm>
            <a:off x="6309360" y="1600200"/>
            <a:ext cx="5029200" cy="2560320"/>
          </a:xfrm>
          <a:prstGeom prst="rect">
            <a:avLst/>
          </a:prstGeom>
          <a:noFill/>
          <a:ln/>
        </p:spPr>
        <p:txBody>
          <a:bodyPr wrap="square" lIns="0" tIns="0" rIns="0" bIns="0" rtlCol="0" anchor="t"/>
          <a:lstStyle/>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S → while M1 ( B ) W S1</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backpatch(S1.nextlist, M1.instr)</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backpatch(B.truelist, W.instr)</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emit("goto" M1.instr)</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S.nextlist = merge(B.falselist,</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loop.breaks)</a:t>
            </a:r>
            <a:endParaRPr lang="en-US" sz="1500" dirty="0"/>
          </a:p>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S → break ;</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emit("goto _") into loop.breaks</a:t>
            </a:r>
            <a:endParaRPr lang="en-US" sz="1500" dirty="0"/>
          </a:p>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S → continue ;</a:t>
            </a:r>
            <a:endParaRPr lang="en-US" sz="1500" dirty="0"/>
          </a:p>
          <a:p>
            <a:pPr indent="0" marL="0">
              <a:lnSpc>
                <a:spcPct val="105000"/>
              </a:lnSpc>
              <a:buNone/>
            </a:pPr>
            <a:r>
              <a:rPr lang="en-US" sz="1500" dirty="0">
                <a:solidFill>
                  <a:srgbClr val="C9D2DE"/>
                </a:solidFill>
                <a:latin typeface="Courier New" pitchFamily="34" charset="0"/>
                <a:ea typeface="Courier New" pitchFamily="34" charset="-122"/>
                <a:cs typeface="Courier New" pitchFamily="34" charset="-120"/>
              </a:rPr>
              <a:t>   emit("goto _") into loop.continues</a:t>
            </a:r>
            <a:endParaRPr lang="en-US" sz="1500" dirty="0"/>
          </a:p>
        </p:txBody>
      </p:sp>
      <p:sp>
        <p:nvSpPr>
          <p:cNvPr id="7" name="dangling else note"/>
          <p:cNvSpPr/>
          <p:nvPr/>
        </p:nvSpPr>
        <p:spPr>
          <a:xfrm>
            <a:off x="548640" y="4663440"/>
            <a:ext cx="11064240" cy="1188720"/>
          </a:xfrm>
          <a:prstGeom prst="roundRect">
            <a:avLst>
              <a:gd name="adj" fmla="val 7692"/>
            </a:avLst>
          </a:prstGeom>
          <a:solidFill>
            <a:schemeClr val="bg2"/>
          </a:solidFill>
          <a:ln/>
        </p:spPr>
      </p:sp>
      <p:sp>
        <p:nvSpPr>
          <p:cNvPr id="8" name="Text 6"/>
          <p:cNvSpPr txBox="1"/>
          <p:nvPr/>
        </p:nvSpPr>
        <p:spPr>
          <a:xfrm>
            <a:off x="868680" y="4800600"/>
            <a:ext cx="10424160" cy="914400"/>
          </a:xfrm>
          <a:prstGeom prst="rect">
            <a:avLst/>
          </a:prstGeom>
          <a:noFill/>
          <a:ln/>
        </p:spPr>
        <p:txBody>
          <a:bodyPr wrap="square" lIns="0" tIns="0" rIns="0" bIns="0" rtlCol="0" anchor="ctr"/>
          <a:lstStyle/>
          <a:p>
            <a:pPr indent="0" marL="0">
              <a:buNone/>
            </a:pPr>
            <a:pPr indent="0" marL="0">
              <a:buNone/>
            </a:pPr>
            <a:r>
              <a:rPr lang="en-US" sz="1500" b="1" dirty="0">
                <a:solidFill>
                  <a:schemeClr val="accent2"/>
                </a:solidFill>
              </a:rPr>
              <a:t>W marker  </a:t>
            </a:r>
            <a:r>
              <a:rPr lang="en-US" sz="1500" dirty="0">
                <a:solidFill>
                  <a:schemeClr val="tx1"/>
                </a:solidFill>
              </a:rPr>
              <a:t>W is M that also opens a loop entry, so break and continue in the body know which loop they leave; continues are patched to the test or step when the loop closes. do-while and for follow the same pattern.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Six data structures carry the generator</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4224528"/>
        </p:xfrm>
        <a:graphic>
          <a:graphicData uri="http://schemas.openxmlformats.org/drawingml/2006/table">
            <a:tbl>
              <a:tblPr/>
              <a:tblGrid>
                <a:gridCol w="1645920"/>
                <a:gridCol w="3108960"/>
                <a:gridCol w="2194560"/>
              </a:tblGrid>
              <a:tr h="603504">
                <a:tc>
                  <a:txBody>
                    <a:bodyPr/>
                    <a:lstStyle/>
                    <a:p>
                      <a:pPr indent="0" marL="0">
                        <a:buNone/>
                      </a:pPr>
                      <a:r>
                        <a:rPr lang="en-US" sz="1400" b="1" dirty="0">
                          <a:solidFill>
                            <a:schemeClr val="bg1"/>
                          </a:solidFill>
                        </a:rPr>
                        <a:t>Structure</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400" b="1" dirty="0">
                          <a:solidFill>
                            <a:schemeClr val="bg1"/>
                          </a:solidFill>
                        </a:rPr>
                        <a:t>Fields</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400" b="1" dirty="0">
                          <a:solidFill>
                            <a:schemeClr val="bg1"/>
                          </a:solidFill>
                        </a:rPr>
                        <a:t>Functions</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accent2"/>
                    </a:solidFill>
                  </a:tcPr>
                </a:tc>
              </a:tr>
              <a:tr h="603504">
                <a:tc>
                  <a:txBody>
                    <a:bodyPr/>
                    <a:lstStyle/>
                    <a:p>
                      <a:pPr indent="0" marL="0">
                        <a:buNone/>
                      </a:pPr>
                      <a:r>
                        <a:rPr lang="en-US" sz="1400" b="1" dirty="0">
                          <a:solidFill>
                            <a:schemeClr val="tx1"/>
                          </a:solidFill>
                        </a:rPr>
                        <a:t>Quadruple</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kind, op, arg1, arg2, result, target (-1 until filled)</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emit()</a:t>
                      </a:r>
                      <a:endParaRPr lang="en-US" sz="1400" dirty="0">
                        <a:latin typeface="Courier New" charset="0"/>
                        <a:ea typeface="Courier New" charset="0"/>
                        <a:cs typeface="Courier New" charset="0"/>
                      </a:endParaRPr>
                    </a:p>
                  </a:txBody>
                  <a:tcPr marL="101600" marR="101600" marT="76200" marB="76200"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400" b="1" dirty="0">
                          <a:solidFill>
                            <a:schemeClr val="tx1"/>
                          </a:solidFill>
                        </a:rPr>
                        <a:t>Quad table</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growable array; nextinstr starts at 100</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print_tac()</a:t>
                      </a:r>
                      <a:endParaRPr lang="en-US" sz="1400" dirty="0">
                        <a:latin typeface="Courier New" charset="0"/>
                        <a:ea typeface="Courier New" charset="0"/>
                        <a:cs typeface="Courier New" charset="0"/>
                      </a:endParaRPr>
                    </a:p>
                  </a:txBody>
                  <a:tcPr marL="101600" marR="101600" marT="76200" marB="76200"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400" b="1" dirty="0">
                          <a:solidFill>
                            <a:schemeClr val="tx1"/>
                          </a:solidFill>
                        </a:rPr>
                        <a:t>Patch list</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array of quad indices; NULL is the empty list</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makelist, merge, backpatch</a:t>
                      </a:r>
                      <a:endParaRPr lang="en-US" sz="1400" dirty="0">
                        <a:latin typeface="Courier New" charset="0"/>
                        <a:ea typeface="Courier New" charset="0"/>
                        <a:cs typeface="Courier New" charset="0"/>
                      </a:endParaRPr>
                    </a:p>
                  </a:txBody>
                  <a:tcPr marL="101600" marR="101600" marT="76200" marB="76200"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400" b="1" dirty="0">
                          <a:solidFill>
                            <a:schemeClr val="tx1"/>
                          </a:solidFill>
                        </a:rPr>
                        <a:t>Symbol table</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name, first-seen line (type is int)</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symtab_insert, print_symbols</a:t>
                      </a:r>
                      <a:endParaRPr lang="en-US" sz="1400" dirty="0">
                        <a:latin typeface="Courier New" charset="0"/>
                        <a:ea typeface="Courier New" charset="0"/>
                        <a:cs typeface="Courier New" charset="0"/>
                      </a:endParaRPr>
                    </a:p>
                  </a:txBody>
                  <a:tcPr marL="101600" marR="101600" marT="76200" marB="76200"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400" b="1" dirty="0">
                          <a:solidFill>
                            <a:schemeClr val="tx1"/>
                          </a:solidFill>
                        </a:rPr>
                        <a:t>Loop stack</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break and continue jumps of each open loop</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loop_begin, loop_end, loop_jump</a:t>
                      </a:r>
                      <a:endParaRPr lang="en-US" sz="1400" dirty="0">
                        <a:latin typeface="Courier New" charset="0"/>
                        <a:ea typeface="Courier New" charset="0"/>
                        <a:cs typeface="Courier New" charset="0"/>
                      </a:endParaRPr>
                    </a:p>
                  </a:txBody>
                  <a:tcPr marL="101600" marR="101600" marT="76200" marB="76200"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400" b="1" dirty="0">
                          <a:solidFill>
                            <a:schemeClr val="tx1"/>
                          </a:solidFill>
                        </a:rPr>
                        <a:t>Temp generator</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returns t1, t2, ...</a:t>
                      </a:r>
                      <a:endParaRPr lang="en-US" sz="1400" dirty="0"/>
                    </a:p>
                  </a:txBody>
                  <a:tcPr marL="101600" marR="101600" marT="76200" marB="762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newtemp()</a:t>
                      </a:r>
                      <a:endParaRPr lang="en-US" sz="1400" dirty="0">
                        <a:latin typeface="Courier New" charset="0"/>
                        <a:ea typeface="Courier New" charset="0"/>
                        <a:cs typeface="Courier New" charset="0"/>
                      </a:endParaRPr>
                    </a:p>
                  </a:txBody>
                  <a:tcPr marL="101600" marR="101600" marT="76200" marB="7620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union"/>
          <p:cNvSpPr/>
          <p:nvPr/>
        </p:nvSpPr>
        <p:spPr>
          <a:xfrm>
            <a:off x="7863840" y="1371600"/>
            <a:ext cx="3749040" cy="2651760"/>
          </a:xfrm>
          <a:prstGeom prst="roundRect">
            <a:avLst>
              <a:gd name="adj" fmla="val 2759"/>
            </a:avLst>
          </a:prstGeom>
          <a:solidFill>
            <a:schemeClr val="tx1"/>
          </a:solidFill>
          <a:ln/>
        </p:spPr>
      </p:sp>
      <p:sp>
        <p:nvSpPr>
          <p:cNvPr id="5" name="Text 2"/>
          <p:cNvSpPr txBox="1"/>
          <p:nvPr/>
        </p:nvSpPr>
        <p:spPr>
          <a:xfrm>
            <a:off x="8138160" y="1600200"/>
            <a:ext cx="3200400" cy="2194560"/>
          </a:xfrm>
          <a:prstGeom prst="rect">
            <a:avLst/>
          </a:prstGeom>
          <a:noFill/>
          <a:ln/>
        </p:spPr>
        <p:txBody>
          <a:bodyPr wrap="square" lIns="0" tIns="0" rIns="0" bIns="0" rtlCol="0" anchor="t"/>
          <a:lstStyle/>
          <a:p>
            <a:pPr indent="0" marL="0">
              <a:lnSpc>
                <a:spcPct val="105000"/>
              </a:lnSpc>
              <a:buNone/>
            </a:pPr>
            <a:r>
              <a:rPr lang="en-US" sz="1500" dirty="0">
                <a:solidFill>
                  <a:schemeClr val="bg1"/>
                </a:solidFill>
                <a:latin typeface="Courier New" pitchFamily="34" charset="0"/>
                <a:ea typeface="Courier New" pitchFamily="34" charset="-122"/>
                <a:cs typeface="Courier New" pitchFamily="34" charset="-120"/>
              </a:rPr>
              <a:t>%union {</a:t>
            </a:r>
            <a:endParaRPr lang="en-US" sz="1500" dirty="0"/>
          </a:p>
          <a:p>
            <a:pPr indent="0" marL="0">
              <a:lnSpc>
                <a:spcPct val="105000"/>
              </a:lnSpc>
              <a:buNone/>
            </a:pPr>
            <a:r>
              <a:rPr lang="en-US" sz="1500" dirty="0">
                <a:solidFill>
                  <a:schemeClr val="bg1"/>
                </a:solidFill>
                <a:latin typeface="Courier New" pitchFamily="34" charset="0"/>
                <a:ea typeface="Courier New" pitchFamily="34" charset="-122"/>
                <a:cs typeface="Courier New" pitchFamily="34" charset="-120"/>
              </a:rPr>
              <a:t>  char      *addr;</a:t>
            </a:r>
            <a:endParaRPr lang="en-US" sz="1500" dirty="0"/>
          </a:p>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  BoolLists  b;</a:t>
            </a:r>
            <a:endParaRPr lang="en-US" sz="1500" dirty="0"/>
          </a:p>
          <a:p>
            <a:pPr indent="0" marL="0">
              <a:lnSpc>
                <a:spcPct val="105000"/>
              </a:lnSpc>
              <a:buNone/>
            </a:pPr>
            <a:r>
              <a:rPr lang="en-US" sz="1500" b="1" dirty="0">
                <a:solidFill>
                  <a:schemeClr val="accent1"/>
                </a:solidFill>
                <a:latin typeface="Courier New" pitchFamily="34" charset="0"/>
                <a:ea typeface="Courier New" pitchFamily="34" charset="-122"/>
                <a:cs typeface="Courier New" pitchFamily="34" charset="-120"/>
              </a:rPr>
              <a:t>  PatchList *nextlist;</a:t>
            </a:r>
            <a:endParaRPr lang="en-US" sz="1500" dirty="0"/>
          </a:p>
          <a:p>
            <a:pPr indent="0" marL="0">
              <a:lnSpc>
                <a:spcPct val="105000"/>
              </a:lnSpc>
              <a:buNone/>
            </a:pPr>
            <a:r>
              <a:rPr lang="en-US" sz="1500" dirty="0">
                <a:solidFill>
                  <a:schemeClr val="bg1"/>
                </a:solidFill>
                <a:latin typeface="Courier New" pitchFamily="34" charset="0"/>
                <a:ea typeface="Courier New" pitchFamily="34" charset="-122"/>
                <a:cs typeface="Courier New" pitchFamily="34" charset="-120"/>
              </a:rPr>
              <a:t>  int        instr;</a:t>
            </a:r>
            <a:endParaRPr lang="en-US" sz="1500" dirty="0"/>
          </a:p>
          <a:p>
            <a:pPr indent="0" marL="0">
              <a:lnSpc>
                <a:spcPct val="105000"/>
              </a:lnSpc>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p:txBody>
      </p:sp>
      <p:sp>
        <p:nvSpPr>
          <p:cNvPr id="6" name="Text 3"/>
          <p:cNvSpPr txBox="1"/>
          <p:nvPr/>
        </p:nvSpPr>
        <p:spPr>
          <a:xfrm>
            <a:off x="7863840" y="4251960"/>
            <a:ext cx="3749040" cy="1463040"/>
          </a:xfrm>
          <a:prstGeom prst="rect">
            <a:avLst/>
          </a:prstGeom>
          <a:noFill/>
          <a:ln/>
        </p:spPr>
        <p:txBody>
          <a:bodyPr wrap="square" lIns="0" tIns="0" rIns="0" bIns="0" rtlCol="0" anchor="t"/>
          <a:lstStyle/>
          <a:p>
            <a:pPr indent="0" marL="0">
              <a:spcAft>
                <a:spcPts val="400"/>
              </a:spcAft>
              <a:buNone/>
            </a:pPr>
            <a:pPr indent="0" marL="0">
              <a:spcAft>
                <a:spcPts val="400"/>
              </a:spcAft>
              <a:buNone/>
            </a:pPr>
            <a:r>
              <a:rPr lang="en-US" sz="1500" b="1" dirty="0">
                <a:solidFill>
                  <a:schemeClr val="tx2"/>
                </a:solidFill>
                <a:latin typeface="Courier New" pitchFamily="34" charset="0"/>
                <a:ea typeface="Courier New" pitchFamily="34" charset="-122"/>
                <a:cs typeface="Courier New" pitchFamily="34" charset="-120"/>
              </a:rPr>
              <a:t>addr</a:t>
            </a:r>
            <a:r>
              <a:rPr lang="en-US" sz="1500" dirty="0">
                <a:solidFill>
                  <a:schemeClr val="tx2"/>
                </a:solidFill>
              </a:rPr>
              <a:t>  for E</a:t>
            </a:r>
            <a:endParaRPr lang="en-US" sz="1500" dirty="0"/>
          </a:p>
          <a:p>
            <a:pPr indent="0" marL="0">
              <a:spcAft>
                <a:spcPts val="400"/>
              </a:spcAft>
              <a:buNone/>
            </a:pPr>
            <a:pPr indent="0" marL="0">
              <a:spcAft>
                <a:spcPts val="400"/>
              </a:spcAft>
              <a:buNone/>
            </a:pPr>
            <a:r>
              <a:rPr lang="en-US" sz="1500" b="1" dirty="0">
                <a:solidFill>
                  <a:schemeClr val="tx2"/>
                </a:solidFill>
                <a:latin typeface="Courier New" pitchFamily="34" charset="0"/>
                <a:ea typeface="Courier New" pitchFamily="34" charset="-122"/>
                <a:cs typeface="Courier New" pitchFamily="34" charset="-120"/>
              </a:rPr>
              <a:t>b</a:t>
            </a:r>
            <a:r>
              <a:rPr lang="en-US" sz="1500" dirty="0">
                <a:solidFill>
                  <a:schemeClr val="tx2"/>
                </a:solidFill>
              </a:rPr>
              <a:t>  truelist + falselist for B</a:t>
            </a:r>
            <a:endParaRPr lang="en-US" sz="1500" dirty="0"/>
          </a:p>
          <a:p>
            <a:pPr indent="0" marL="0">
              <a:spcAft>
                <a:spcPts val="400"/>
              </a:spcAft>
              <a:buNone/>
            </a:pPr>
            <a:pPr indent="0" marL="0">
              <a:spcAft>
                <a:spcPts val="400"/>
              </a:spcAft>
              <a:buNone/>
            </a:pPr>
            <a:r>
              <a:rPr lang="en-US" sz="1500" b="1" dirty="0">
                <a:solidFill>
                  <a:schemeClr val="tx2"/>
                </a:solidFill>
                <a:latin typeface="Courier New" pitchFamily="34" charset="0"/>
                <a:ea typeface="Courier New" pitchFamily="34" charset="-122"/>
                <a:cs typeface="Courier New" pitchFamily="34" charset="-120"/>
              </a:rPr>
              <a:t>nextlist</a:t>
            </a:r>
            <a:r>
              <a:rPr lang="en-US" sz="1500" dirty="0">
                <a:solidFill>
                  <a:schemeClr val="tx2"/>
                </a:solidFill>
              </a:rPr>
              <a:t>  for S, L and N</a:t>
            </a:r>
            <a:endParaRPr lang="en-US" sz="1500" dirty="0"/>
          </a:p>
          <a:p>
            <a:pPr indent="0" marL="0">
              <a:spcAft>
                <a:spcPts val="400"/>
              </a:spcAft>
              <a:buNone/>
            </a:pPr>
            <a:pPr indent="0" marL="0">
              <a:spcAft>
                <a:spcPts val="400"/>
              </a:spcAft>
              <a:buNone/>
            </a:pPr>
            <a:r>
              <a:rPr lang="en-US" sz="1500" b="1" dirty="0">
                <a:solidFill>
                  <a:schemeClr val="tx2"/>
                </a:solidFill>
                <a:latin typeface="Courier New" pitchFamily="34" charset="0"/>
                <a:ea typeface="Courier New" pitchFamily="34" charset="-122"/>
                <a:cs typeface="Courier New" pitchFamily="34" charset="-120"/>
              </a:rPr>
              <a:t>instr</a:t>
            </a:r>
            <a:r>
              <a:rPr lang="en-US" sz="1500" dirty="0">
                <a:solidFill>
                  <a:schemeClr val="tx2"/>
                </a:solidFill>
              </a:rPr>
              <a:t>  for M and 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Results: every construct works end to end</a:t>
            </a:r>
            <a:endParaRPr lang="en-US" sz="3400" dirty="0"/>
          </a:p>
        </p:txBody>
      </p:sp>
      <p:sp>
        <p:nvSpPr>
          <p:cNvPr id="3" name="stat grammar conflicts"/>
          <p:cNvSpPr/>
          <p:nvPr/>
        </p:nvSpPr>
        <p:spPr>
          <a:xfrm>
            <a:off x="548640" y="1325880"/>
            <a:ext cx="3474720" cy="1371600"/>
          </a:xfrm>
          <a:prstGeom prst="roundRect">
            <a:avLst>
              <a:gd name="adj" fmla="val 6667"/>
            </a:avLst>
          </a:prstGeom>
          <a:solidFill>
            <a:schemeClr val="bg2"/>
          </a:solidFill>
          <a:ln/>
        </p:spPr>
      </p:sp>
      <p:sp>
        <p:nvSpPr>
          <p:cNvPr id="4" name="Text 2"/>
          <p:cNvSpPr txBox="1"/>
          <p:nvPr/>
        </p:nvSpPr>
        <p:spPr>
          <a:xfrm>
            <a:off x="822960" y="1463040"/>
            <a:ext cx="1463040" cy="91440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0</a:t>
            </a:r>
            <a:endParaRPr lang="en-US" sz="4400" dirty="0"/>
          </a:p>
        </p:txBody>
      </p:sp>
      <p:sp>
        <p:nvSpPr>
          <p:cNvPr id="5" name="Text 3"/>
          <p:cNvSpPr txBox="1"/>
          <p:nvPr/>
        </p:nvSpPr>
        <p:spPr>
          <a:xfrm>
            <a:off x="2331720" y="1600200"/>
            <a:ext cx="1600200" cy="548640"/>
          </a:xfrm>
          <a:prstGeom prst="rect">
            <a:avLst/>
          </a:prstGeom>
          <a:noFill/>
          <a:ln/>
        </p:spPr>
        <p:txBody>
          <a:bodyPr wrap="square" lIns="0" tIns="0" rIns="0" bIns="0" rtlCol="0" anchor="t"/>
          <a:lstStyle/>
          <a:p>
            <a:pPr indent="0" marL="0">
              <a:buNone/>
            </a:pPr>
            <a:r>
              <a:rPr lang="en-US" sz="1600" b="1" dirty="0">
                <a:solidFill>
                  <a:schemeClr val="tx1"/>
                </a:solidFill>
              </a:rPr>
              <a:t>grammar conflicts</a:t>
            </a:r>
            <a:endParaRPr lang="en-US" sz="1600" dirty="0"/>
          </a:p>
        </p:txBody>
      </p:sp>
      <p:sp>
        <p:nvSpPr>
          <p:cNvPr id="6" name="Text 4"/>
          <p:cNvSpPr txBox="1"/>
          <p:nvPr/>
        </p:nvSpPr>
        <p:spPr>
          <a:xfrm>
            <a:off x="2331720" y="2148840"/>
            <a:ext cx="1600200" cy="457200"/>
          </a:xfrm>
          <a:prstGeom prst="rect">
            <a:avLst/>
          </a:prstGeom>
          <a:noFill/>
          <a:ln/>
        </p:spPr>
        <p:txBody>
          <a:bodyPr wrap="square" lIns="0" tIns="0" rIns="0" bIns="0" rtlCol="0" anchor="t"/>
          <a:lstStyle/>
          <a:p>
            <a:pPr indent="0" marL="0">
              <a:buNone/>
            </a:pPr>
            <a:r>
              <a:rPr lang="en-US" sz="1200" dirty="0">
                <a:solidFill>
                  <a:schemeClr val="tx2"/>
                </a:solidFill>
              </a:rPr>
              <a:t>in both grammars</a:t>
            </a:r>
            <a:endParaRPr lang="en-US" sz="1200" dirty="0"/>
          </a:p>
        </p:txBody>
      </p:sp>
      <p:sp>
        <p:nvSpPr>
          <p:cNvPr id="7" name="stat test programs pass"/>
          <p:cNvSpPr/>
          <p:nvPr/>
        </p:nvSpPr>
        <p:spPr>
          <a:xfrm>
            <a:off x="4297680" y="1325880"/>
            <a:ext cx="3474720" cy="1371600"/>
          </a:xfrm>
          <a:prstGeom prst="roundRect">
            <a:avLst>
              <a:gd name="adj" fmla="val 6667"/>
            </a:avLst>
          </a:prstGeom>
          <a:solidFill>
            <a:schemeClr val="bg2"/>
          </a:solidFill>
          <a:ln/>
        </p:spPr>
      </p:sp>
      <p:sp>
        <p:nvSpPr>
          <p:cNvPr id="8" name="Text 6"/>
          <p:cNvSpPr txBox="1"/>
          <p:nvPr/>
        </p:nvSpPr>
        <p:spPr>
          <a:xfrm>
            <a:off x="4572000" y="1463040"/>
            <a:ext cx="1463040" cy="91440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35</a:t>
            </a:r>
            <a:endParaRPr lang="en-US" sz="4400" dirty="0"/>
          </a:p>
        </p:txBody>
      </p:sp>
      <p:sp>
        <p:nvSpPr>
          <p:cNvPr id="9" name="Text 7"/>
          <p:cNvSpPr txBox="1"/>
          <p:nvPr/>
        </p:nvSpPr>
        <p:spPr>
          <a:xfrm>
            <a:off x="6080760" y="1600200"/>
            <a:ext cx="1600200" cy="548640"/>
          </a:xfrm>
          <a:prstGeom prst="rect">
            <a:avLst/>
          </a:prstGeom>
          <a:noFill/>
          <a:ln/>
        </p:spPr>
        <p:txBody>
          <a:bodyPr wrap="square" lIns="0" tIns="0" rIns="0" bIns="0" rtlCol="0" anchor="t"/>
          <a:lstStyle/>
          <a:p>
            <a:pPr indent="0" marL="0">
              <a:buNone/>
            </a:pPr>
            <a:r>
              <a:rPr lang="en-US" sz="1600" b="1" dirty="0">
                <a:solidFill>
                  <a:schemeClr val="tx1"/>
                </a:solidFill>
              </a:rPr>
              <a:t>of 35 checks pass</a:t>
            </a:r>
            <a:endParaRPr lang="en-US" sz="1600" dirty="0"/>
          </a:p>
        </p:txBody>
      </p:sp>
      <p:sp>
        <p:nvSpPr>
          <p:cNvPr id="10" name="Text 8"/>
          <p:cNvSpPr txBox="1"/>
          <p:nvPr/>
        </p:nvSpPr>
        <p:spPr>
          <a:xfrm>
            <a:off x="6080760" y="2148840"/>
            <a:ext cx="1600200" cy="457200"/>
          </a:xfrm>
          <a:prstGeom prst="rect">
            <a:avLst/>
          </a:prstGeom>
          <a:noFill/>
          <a:ln/>
        </p:spPr>
        <p:txBody>
          <a:bodyPr wrap="square" lIns="0" tIns="0" rIns="0" bIns="0" rtlCol="0" anchor="t"/>
          <a:lstStyle/>
          <a:p>
            <a:pPr indent="0" marL="0">
              <a:buNone/>
            </a:pPr>
            <a:r>
              <a:rPr lang="en-US" sz="1200" dirty="0">
                <a:solidFill>
                  <a:schemeClr val="tx2"/>
                </a:solidFill>
              </a:rPr>
              <a:t>19 programs, 16 also two-pass</a:t>
            </a:r>
            <a:endParaRPr lang="en-US" sz="1200" dirty="0"/>
          </a:p>
        </p:txBody>
      </p:sp>
      <p:sp>
        <p:nvSpPr>
          <p:cNvPr id="11" name="stat source files"/>
          <p:cNvSpPr/>
          <p:nvPr/>
        </p:nvSpPr>
        <p:spPr>
          <a:xfrm>
            <a:off x="8046720" y="1325880"/>
            <a:ext cx="3474720" cy="1371600"/>
          </a:xfrm>
          <a:prstGeom prst="roundRect">
            <a:avLst>
              <a:gd name="adj" fmla="val 6667"/>
            </a:avLst>
          </a:prstGeom>
          <a:solidFill>
            <a:schemeClr val="bg2"/>
          </a:solidFill>
          <a:ln/>
        </p:spPr>
      </p:sp>
      <p:sp>
        <p:nvSpPr>
          <p:cNvPr id="12" name="Text 10"/>
          <p:cNvSpPr txBox="1"/>
          <p:nvPr/>
        </p:nvSpPr>
        <p:spPr>
          <a:xfrm>
            <a:off x="8321040" y="1463040"/>
            <a:ext cx="1463040" cy="91440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3</a:t>
            </a:r>
            <a:endParaRPr lang="en-US" sz="4400" dirty="0"/>
          </a:p>
        </p:txBody>
      </p:sp>
      <p:sp>
        <p:nvSpPr>
          <p:cNvPr id="13" name="Text 11"/>
          <p:cNvSpPr txBox="1"/>
          <p:nvPr/>
        </p:nvSpPr>
        <p:spPr>
          <a:xfrm>
            <a:off x="9829800" y="1600200"/>
            <a:ext cx="1600200" cy="548640"/>
          </a:xfrm>
          <a:prstGeom prst="rect">
            <a:avLst/>
          </a:prstGeom>
          <a:noFill/>
          <a:ln/>
        </p:spPr>
        <p:txBody>
          <a:bodyPr wrap="square" lIns="0" tIns="0" rIns="0" bIns="0" rtlCol="0" anchor="t"/>
          <a:lstStyle/>
          <a:p>
            <a:pPr indent="0" marL="0">
              <a:buNone/>
            </a:pPr>
            <a:r>
              <a:rPr lang="en-US" sz="1600" b="1" dirty="0">
                <a:solidFill>
                  <a:schemeClr val="tx1"/>
                </a:solidFill>
              </a:rPr>
              <a:t>source files</a:t>
            </a:r>
            <a:endParaRPr lang="en-US" sz="1600" dirty="0"/>
          </a:p>
        </p:txBody>
      </p:sp>
      <p:sp>
        <p:nvSpPr>
          <p:cNvPr id="14" name="Text 12"/>
          <p:cNvSpPr txBox="1"/>
          <p:nvPr/>
        </p:nvSpPr>
        <p:spPr>
          <a:xfrm>
            <a:off x="9829800" y="2148840"/>
            <a:ext cx="1600200" cy="457200"/>
          </a:xfrm>
          <a:prstGeom prst="rect">
            <a:avLst/>
          </a:prstGeom>
          <a:noFill/>
          <a:ln/>
        </p:spPr>
        <p:txBody>
          <a:bodyPr wrap="square" lIns="0" tIns="0" rIns="0" bIns="0" rtlCol="0" anchor="t"/>
          <a:lstStyle/>
          <a:p>
            <a:pPr indent="0" marL="0">
              <a:buNone/>
            </a:pPr>
            <a:r>
              <a:rPr lang="en-US" sz="1200" dirty="0">
                <a:solidFill>
                  <a:schemeClr val="tx2"/>
                </a:solidFill>
              </a:rPr>
              <a:t>lexer.l, parser.y, twopass.y</a:t>
            </a:r>
            <a:endParaRPr lang="en-US" sz="1200" dirty="0"/>
          </a:p>
        </p:txBody>
      </p:sp>
      <p:sp>
        <p:nvSpPr>
          <p:cNvPr id="15" name="demo output"/>
          <p:cNvSpPr/>
          <p:nvPr/>
        </p:nvSpPr>
        <p:spPr>
          <a:xfrm>
            <a:off x="548640" y="2971800"/>
            <a:ext cx="5120640" cy="2651760"/>
          </a:xfrm>
          <a:prstGeom prst="roundRect">
            <a:avLst>
              <a:gd name="adj" fmla="val 2759"/>
            </a:avLst>
          </a:prstGeom>
          <a:solidFill>
            <a:schemeClr val="tx1"/>
          </a:solidFill>
          <a:ln/>
        </p:spPr>
      </p:sp>
      <p:sp>
        <p:nvSpPr>
          <p:cNvPr id="16" name="Text 14"/>
          <p:cNvSpPr txBox="1"/>
          <p:nvPr/>
        </p:nvSpPr>
        <p:spPr>
          <a:xfrm>
            <a:off x="822960" y="3200400"/>
            <a:ext cx="4572000" cy="2194560"/>
          </a:xfrm>
          <a:prstGeom prst="rect">
            <a:avLst/>
          </a:prstGeom>
          <a:noFill/>
          <a:ln/>
        </p:spPr>
        <p:txBody>
          <a:bodyPr wrap="square" lIns="0" tIns="0" rIns="0" bIns="0" rtlCol="0" anchor="t"/>
          <a:lstStyle/>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./icg tests/04_while.src</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100: i = 0</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101: if i &lt; n goto 103</a:t>
            </a:r>
            <a:endParaRPr lang="en-US" sz="1600" dirty="0"/>
          </a:p>
          <a:p>
            <a:pPr indent="0" marL="0">
              <a:lnSpc>
                <a:spcPct val="105000"/>
              </a:lnSpc>
              <a:buNone/>
            </a:pPr>
            <a:r>
              <a:rPr lang="en-US" sz="1400" b="1" dirty="0">
                <a:solidFill>
                  <a:schemeClr val="accent1"/>
                </a:solidFill>
                <a:latin typeface="Courier New" pitchFamily="34" charset="0"/>
                <a:ea typeface="Courier New" pitchFamily="34" charset="-122"/>
                <a:cs typeface="Courier New" pitchFamily="34" charset="-120"/>
              </a:rPr>
              <a:t>102: goto 106</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103: t1 = i + 1</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104: i = t1</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105: goto 101</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106: done = 1</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107: halt</a:t>
            </a:r>
            <a:endParaRPr lang="en-US" sz="1600" dirty="0"/>
          </a:p>
        </p:txBody>
      </p:sp>
      <p:sp>
        <p:nvSpPr>
          <p:cNvPr id="17" name="Text 15"/>
          <p:cNvSpPr txBox="1"/>
          <p:nvPr/>
        </p:nvSpPr>
        <p:spPr>
          <a:xfrm>
            <a:off x="6035040" y="3017520"/>
            <a:ext cx="5577840" cy="30175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Working</a:t>
            </a:r>
            <a:endParaRPr lang="en-US" sz="1600" dirty="0"/>
          </a:p>
          <a:p>
            <a:pPr marL="342900" indent="-342900">
              <a:spcAft>
                <a:spcPts val="400"/>
              </a:spcAft>
              <a:buSzPct val="100000"/>
              <a:buChar char="•"/>
            </a:pPr>
            <a:r>
              <a:rPr lang="en-US" sz="1600" dirty="0">
                <a:solidFill>
                  <a:schemeClr val="tx1"/>
                </a:solidFill>
              </a:rPr>
              <a:t>if, if-else, while, do-while, for</a:t>
            </a:r>
            <a:endParaRPr lang="en-US" sz="1600" dirty="0"/>
          </a:p>
          <a:p>
            <a:pPr marL="342900" indent="-342900">
              <a:spcAft>
                <a:spcPts val="400"/>
              </a:spcAft>
              <a:buSzPct val="100000"/>
              <a:buChar char="•"/>
            </a:pPr>
            <a:r>
              <a:rPr lang="en-US" sz="1600" dirty="0">
                <a:solidFill>
                  <a:schemeClr val="tx1"/>
                </a:solidFill>
              </a:rPr>
              <a:t>&amp;&amp;, ||, ! as short-circuit jumps; true, false</a:t>
            </a:r>
            <a:endParaRPr lang="en-US" sz="1600" dirty="0"/>
          </a:p>
          <a:p>
            <a:pPr marL="342900" indent="-342900">
              <a:spcAft>
                <a:spcPts val="400"/>
              </a:spcAft>
              <a:buSzPct val="100000"/>
              <a:buChar char="•"/>
            </a:pPr>
            <a:r>
              <a:rPr lang="en-US" sz="1600" dirty="0">
                <a:solidFill>
                  <a:schemeClr val="tx1"/>
                </a:solidFill>
              </a:rPr>
              <a:t>break and continue, nesting to any depth</a:t>
            </a:r>
            <a:endParaRPr lang="en-US" sz="1600" dirty="0"/>
          </a:p>
          <a:p>
            <a:pPr marL="342900" indent="-342900">
              <a:spcAft>
                <a:spcPts val="400"/>
              </a:spcAft>
              <a:buSzPct val="100000"/>
              <a:buChar char="•"/>
            </a:pPr>
            <a:r>
              <a:rPr lang="en-US" sz="1600" dirty="0">
                <a:solidFill>
                  <a:schemeClr val="tx1"/>
                </a:solidFill>
              </a:rPr>
              <a:t>Lexical, syntax and break-outside-loop errors</a:t>
            </a:r>
            <a:endParaRPr lang="en-US" sz="1600" dirty="0"/>
          </a:p>
          <a:p>
            <a:pPr indent="0" marL="0">
              <a:spcAft>
                <a:spcPts val="400"/>
              </a:spcAft>
              <a:buNone/>
            </a:pPr>
            <a:r>
              <a:rPr lang="en-US" sz="800" dirty="0">
                <a:solidFill>
                  <a:schemeClr val="tx1"/>
                </a:solidFill>
              </a:rPr>
              <a:t> </a:t>
            </a:r>
            <a:endParaRPr lang="en-US" sz="1600" dirty="0"/>
          </a:p>
          <a:p>
            <a:pPr indent="0" marL="0">
              <a:spcAft>
                <a:spcPts val="400"/>
              </a:spcAft>
              <a:buNone/>
            </a:pPr>
            <a:r>
              <a:rPr lang="en-US" sz="1600" b="1" dirty="0">
                <a:solidFill>
                  <a:schemeClr val="accent6"/>
                </a:solidFill>
              </a:rPr>
              <a:t>Cross-checked</a:t>
            </a:r>
            <a:endParaRPr lang="en-US" sz="1600" dirty="0"/>
          </a:p>
          <a:p>
            <a:pPr marL="342900" indent="-342900">
              <a:spcAft>
                <a:spcPts val="400"/>
              </a:spcAft>
              <a:buSzPct val="100000"/>
              <a:buChar char="•"/>
            </a:pPr>
            <a:r>
              <a:rPr lang="en-US" sz="1600" dirty="0">
                <a:solidFill>
                  <a:schemeClr val="tx1"/>
                </a:solidFill>
              </a:rPr>
              <a:t>The two-pass baseline prints identical output on all 16 tests they share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Novelty: watching backpatching happen</a:t>
            </a:r>
            <a:endParaRPr lang="en-US" sz="3400" dirty="0"/>
          </a:p>
        </p:txBody>
      </p:sp>
      <p:sp>
        <p:nvSpPr>
          <p:cNvPr id="3" name="Text 1"/>
          <p:cNvSpPr txBox="1"/>
          <p:nvPr/>
        </p:nvSpPr>
        <p:spPr>
          <a:xfrm>
            <a:off x="548640" y="1463040"/>
            <a:ext cx="5394960" cy="4206240"/>
          </a:xfrm>
          <a:prstGeom prst="rect">
            <a:avLst/>
          </a:prstGeom>
          <a:noFill/>
          <a:ln/>
        </p:spPr>
        <p:txBody>
          <a:bodyPr wrap="square" lIns="0" tIns="0" rIns="0" bIns="0" rtlCol="0" anchor="t"/>
          <a:lstStyle/>
          <a:p>
            <a:pPr indent="0" marL="0">
              <a:buNone/>
            </a:pPr>
            <a:r>
              <a:rPr lang="en-US" sz="1800" dirty="0">
                <a:solidFill>
                  <a:schemeClr val="tx1"/>
                </a:solidFill>
              </a:rPr>
              <a:t>--trace prints every reduction that touches a jump, and what it did: each emit, makelist, merge and backpatch.</a:t>
            </a:r>
            <a:endParaRPr lang="en-US" sz="1800" dirty="0"/>
          </a:p>
          <a:p>
            <a:pPr indent="0" marL="0">
              <a:buNone/>
            </a:pPr>
            <a:r>
              <a:rPr lang="en-US" sz="800" dirty="0">
                <a:solidFill>
                  <a:schemeClr val="tx1"/>
                </a:solidFill>
              </a:rPr>
              <a:t> </a:t>
            </a:r>
            <a:endParaRPr lang="en-US" sz="1800" dirty="0"/>
          </a:p>
          <a:p>
            <a:pPr indent="0" marL="0">
              <a:buNone/>
            </a:pPr>
            <a:r>
              <a:rPr lang="en-US" sz="1800" dirty="0">
                <a:solidFill>
                  <a:schemeClr val="tx1"/>
                </a:solidFill>
              </a:rPr>
              <a:t>A jump shows up as goto _ when emitted and gets its target the moment a marker supplies it.</a:t>
            </a:r>
            <a:endParaRPr lang="en-US" sz="1800" dirty="0"/>
          </a:p>
          <a:p>
            <a:pPr indent="0" marL="0">
              <a:buNone/>
            </a:pPr>
            <a:r>
              <a:rPr lang="en-US" sz="800" dirty="0">
                <a:solidFill>
                  <a:schemeClr val="tx1"/>
                </a:solidFill>
              </a:rPr>
              <a:t> </a:t>
            </a:r>
            <a:endParaRPr lang="en-US" sz="1800" dirty="0"/>
          </a:p>
          <a:p>
            <a:pPr indent="0" marL="0">
              <a:buNone/>
            </a:pPr>
            <a:r>
              <a:rPr lang="en-US" sz="1800" b="1" dirty="0">
                <a:solidFill>
                  <a:schemeClr val="tx1"/>
                </a:solidFill>
              </a:rPr>
              <a:t>Two ways to use it:</a:t>
            </a:r>
            <a:endParaRPr lang="en-US" sz="1800" dirty="0"/>
          </a:p>
          <a:p>
            <a:pPr marL="342900" indent="-342900">
              <a:buSzPct val="100000"/>
              <a:buChar char="•"/>
            </a:pPr>
            <a:r>
              <a:rPr lang="en-US" sz="1800" dirty="0">
                <a:solidFill>
                  <a:schemeClr val="tx1"/>
                </a:solidFill>
              </a:rPr>
              <a:t>--trace: the whole history, then the code</a:t>
            </a:r>
            <a:endParaRPr lang="en-US" sz="1800" dirty="0"/>
          </a:p>
          <a:p>
            <a:pPr marL="342900" indent="-342900">
              <a:buSzPct val="100000"/>
              <a:buChar char="•"/>
            </a:pPr>
            <a:r>
              <a:rPr lang="en-US" sz="1800" dirty="0">
                <a:solidFill>
                  <a:schemeClr val="tx1"/>
                </a:solidFill>
              </a:rPr>
              <a:t>--step: pauses after each step for a live walkthrough</a:t>
            </a:r>
            <a:endParaRPr lang="en-US" sz="1800" dirty="0"/>
          </a:p>
          <a:p>
            <a:pPr indent="0" marL="0">
              <a:buNone/>
            </a:pPr>
            <a:r>
              <a:rPr lang="en-US" sz="800" dirty="0">
                <a:solidFill>
                  <a:schemeClr val="tx1"/>
                </a:solidFill>
              </a:rPr>
              <a:t> </a:t>
            </a:r>
            <a:endParaRPr lang="en-US" sz="1800" dirty="0"/>
          </a:p>
          <a:p>
            <a:pPr indent="0" marL="0">
              <a:buNone/>
            </a:pPr>
            <a:r>
              <a:rPr lang="en-US" sz="1800" b="1" dirty="0">
                <a:solidFill>
                  <a:schemeClr val="accent2"/>
                </a:solidFill>
              </a:rPr>
              <a:t>Built into parser.y, no separate viewer.</a:t>
            </a:r>
            <a:endParaRPr lang="en-US" sz="1800" dirty="0"/>
          </a:p>
        </p:txBody>
      </p:sp>
      <p:sp>
        <p:nvSpPr>
          <p:cNvPr id="4" name="problem code"/>
          <p:cNvSpPr/>
          <p:nvPr/>
        </p:nvSpPr>
        <p:spPr>
          <a:xfrm>
            <a:off x="6400800" y="1371600"/>
            <a:ext cx="5212080" cy="4023360"/>
          </a:xfrm>
          <a:prstGeom prst="roundRect">
            <a:avLst>
              <a:gd name="adj" fmla="val 2222"/>
            </a:avLst>
          </a:prstGeom>
          <a:solidFill>
            <a:schemeClr val="tx1"/>
          </a:solidFill>
          <a:ln/>
        </p:spPr>
      </p:sp>
      <p:sp>
        <p:nvSpPr>
          <p:cNvPr id="5" name="Text 3"/>
          <p:cNvSpPr txBox="1"/>
          <p:nvPr/>
        </p:nvSpPr>
        <p:spPr>
          <a:xfrm>
            <a:off x="6675120" y="1554480"/>
            <a:ext cx="4663440" cy="3657600"/>
          </a:xfrm>
          <a:prstGeom prst="rect">
            <a:avLst/>
          </a:prstGeom>
          <a:noFill/>
          <a:ln/>
        </p:spPr>
        <p:txBody>
          <a:bodyPr wrap="square" lIns="0" tIns="0" rIns="0" bIns="0" rtlCol="0" anchor="t"/>
          <a:lstStyle/>
          <a:p>
            <a:pPr indent="0" marL="0">
              <a:lnSpc>
                <a:spcPct val="105000"/>
              </a:lnSpc>
              <a:buNone/>
            </a:pPr>
            <a:r>
              <a:rPr lang="en-US" sz="1400" b="1" dirty="0">
                <a:solidFill>
                  <a:schemeClr val="accent1"/>
                </a:solidFill>
                <a:latin typeface="Courier New" pitchFamily="34" charset="0"/>
                <a:ea typeface="Courier New" pitchFamily="34" charset="-122"/>
                <a:cs typeface="Courier New" pitchFamily="34" charset="-120"/>
              </a:rPr>
              <a:t>B -&gt; E1 relop E2</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makelist   {100}</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makelist   {101}</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emit       100: if a &lt; b goto _</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emit       101: goto _</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emit       102: x = 1</a:t>
            </a:r>
            <a:endParaRPr lang="en-US" sz="1600" dirty="0"/>
          </a:p>
          <a:p>
            <a:pPr indent="0" marL="0">
              <a:lnSpc>
                <a:spcPct val="105000"/>
              </a:lnSpc>
              <a:buNone/>
            </a:pPr>
            <a:r>
              <a:rPr lang="en-US" sz="1400" b="1" dirty="0">
                <a:solidFill>
                  <a:schemeClr val="accent1"/>
                </a:solidFill>
                <a:latin typeface="Courier New" pitchFamily="34" charset="0"/>
                <a:ea typeface="Courier New" pitchFamily="34" charset="-122"/>
                <a:cs typeface="Courier New" pitchFamily="34" charset="-120"/>
              </a:rPr>
              <a:t>N -&gt; e</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makelist   {103}</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emit       103: goto _</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emit       104: x = 2</a:t>
            </a:r>
            <a:endParaRPr lang="en-US" sz="1600" dirty="0"/>
          </a:p>
          <a:p>
            <a:pPr indent="0" marL="0">
              <a:lnSpc>
                <a:spcPct val="105000"/>
              </a:lnSpc>
              <a:buNone/>
            </a:pPr>
            <a:r>
              <a:rPr lang="en-US" sz="1400" b="1" dirty="0">
                <a:solidFill>
                  <a:schemeClr val="accent1"/>
                </a:solidFill>
                <a:latin typeface="Courier New" pitchFamily="34" charset="0"/>
                <a:ea typeface="Courier New" pitchFamily="34" charset="-122"/>
                <a:cs typeface="Courier New" pitchFamily="34" charset="-120"/>
              </a:rPr>
              <a:t>S -&gt; if ( B ) M1 S1 else N M2 S2</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backpatch  {100} := 102</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backpatch  {101} := 104</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emit       105: y = x</a:t>
            </a:r>
            <a:endParaRPr lang="en-US" sz="1600" dirty="0"/>
          </a:p>
          <a:p>
            <a:pPr indent="0" marL="0">
              <a:lnSpc>
                <a:spcPct val="105000"/>
              </a:lnSpc>
              <a:buNone/>
            </a:pPr>
            <a:r>
              <a:rPr lang="en-US" sz="1400" b="1" dirty="0">
                <a:solidFill>
                  <a:schemeClr val="accent1"/>
                </a:solidFill>
                <a:latin typeface="Courier New" pitchFamily="34" charset="0"/>
                <a:ea typeface="Courier New" pitchFamily="34" charset="-122"/>
                <a:cs typeface="Courier New" pitchFamily="34" charset="-120"/>
              </a:rPr>
              <a:t>L -&gt; L1 M S</a:t>
            </a:r>
            <a:endParaRPr lang="en-US" sz="1600" dirty="0"/>
          </a:p>
          <a:p>
            <a:pPr indent="0" marL="0">
              <a:lnSpc>
                <a:spcPct val="105000"/>
              </a:lnSpc>
              <a:buNone/>
            </a:pPr>
            <a:r>
              <a:rPr lang="en-US" sz="1400" dirty="0">
                <a:solidFill>
                  <a:schemeClr val="bg1"/>
                </a:solidFill>
                <a:latin typeface="Courier New" pitchFamily="34" charset="0"/>
                <a:ea typeface="Courier New" pitchFamily="34" charset="-122"/>
                <a:cs typeface="Courier New" pitchFamily="34" charset="-120"/>
              </a:rPr>
              <a:t>    backpatch  {103} := 105</a:t>
            </a:r>
            <a:endParaRPr lang="en-US" sz="1600" dirty="0"/>
          </a:p>
        </p:txBody>
      </p:sp>
      <p:sp>
        <p:nvSpPr>
          <p:cNvPr id="6" name="Text 4"/>
          <p:cNvSpPr txBox="1"/>
          <p:nvPr/>
        </p:nvSpPr>
        <p:spPr>
          <a:xfrm>
            <a:off x="6400800" y="5532120"/>
            <a:ext cx="5212080" cy="365760"/>
          </a:xfrm>
          <a:prstGeom prst="rect">
            <a:avLst/>
          </a:prstGeom>
          <a:noFill/>
          <a:ln/>
        </p:spPr>
        <p:txBody>
          <a:bodyPr wrap="square" lIns="0" tIns="0" rIns="0" bIns="0" rtlCol="0" anchor="t"/>
          <a:lstStyle/>
          <a:p>
            <a:pPr indent="0" marL="0">
              <a:buNone/>
            </a:pPr>
            <a:r>
              <a:rPr lang="en-US" sz="1400" i="1" dirty="0">
                <a:solidFill>
                  <a:schemeClr val="tx2"/>
                </a:solidFill>
              </a:rPr>
              <a:t>./icg --trace tests/03_if_else.src  (if (a &lt; b) x = 1; else x = 2; y = x;)</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Baseline: same code from a two-pass compiler</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017520"/>
        </p:xfrm>
        <a:graphic>
          <a:graphicData uri="http://schemas.openxmlformats.org/drawingml/2006/table">
            <a:tbl>
              <a:tblPr/>
              <a:tblGrid>
                <a:gridCol w="2834640"/>
                <a:gridCol w="4114800"/>
                <a:gridCol w="4114800"/>
              </a:tblGrid>
              <a:tr h="502920">
                <a:tc>
                  <a:txBody>
                    <a:bodyPr/>
                    <a:lstStyle/>
                    <a:p>
                      <a:pPr indent="0" marL="0">
                        <a:buNone/>
                      </a:pP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b="1" dirty="0">
                          <a:solidFill>
                            <a:schemeClr val="bg1"/>
                          </a:solidFill>
                        </a:rPr>
                        <a:t>Two-pass (twopass.y)</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500" b="1" dirty="0">
                          <a:solidFill>
                            <a:schemeClr val="tx1"/>
                          </a:solidFill>
                        </a:rPr>
                        <a:t>Backpatching (icg, ours)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1"/>
                    </a:solidFill>
                  </a:tcPr>
                </a:tc>
              </a:tr>
              <a:tr h="502920">
                <a:tc>
                  <a:txBody>
                    <a:bodyPr/>
                    <a:lstStyle/>
                    <a:p>
                      <a:pPr indent="0" marL="0">
                        <a:buNone/>
                      </a:pPr>
                      <a:r>
                        <a:rPr lang="en-US" sz="1500" b="1" dirty="0">
                          <a:solidFill>
                            <a:schemeClr val="tx1"/>
                          </a:solidFill>
                        </a:rPr>
                        <a:t>Passes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3: parse to tree, emit with labels, resolve</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 targets filled while parsing</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4"/>
                    </a:solidFill>
                  </a:tcPr>
                </a:tc>
              </a:tr>
              <a:tr h="502920">
                <a:tc>
                  <a:txBody>
                    <a:bodyPr/>
                    <a:lstStyle/>
                    <a:p>
                      <a:pPr indent="0" marL="0">
                        <a:buNone/>
                      </a:pPr>
                      <a:r>
                        <a:rPr lang="en-US" sz="1500" b="1" dirty="0">
                          <a:solidFill>
                            <a:schemeClr val="tx1"/>
                          </a:solidFill>
                        </a:rPr>
                        <a:t>Held until targets are known</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whole tree, label table and all code</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only the jumps still unfilled</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4"/>
                    </a:solidFill>
                  </a:tcPr>
                </a:tc>
              </a:tr>
              <a:tr h="502920">
                <a:tc>
                  <a:txBody>
                    <a:bodyPr/>
                    <a:lstStyle/>
                    <a:p>
                      <a:pPr indent="0" marL="0">
                        <a:buNone/>
                      </a:pPr>
                      <a:r>
                        <a:rPr lang="en-US" sz="1500" b="1" dirty="0">
                          <a:solidFill>
                            <a:schemeClr val="tx1"/>
                          </a:solidFill>
                        </a:rPr>
                        <a:t>06_nested  (16 quads)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26 tree nodes, 9 labels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at most 7 unfilled jumps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4"/>
                    </a:solidFill>
                  </a:tcPr>
                </a:tc>
              </a:tr>
              <a:tr h="502920">
                <a:tc>
                  <a:txBody>
                    <a:bodyPr/>
                    <a:lstStyle/>
                    <a:p>
                      <a:pPr indent="0" marL="0">
                        <a:buNone/>
                      </a:pPr>
                      <a:r>
                        <a:rPr lang="en-US" sz="1500" b="1" dirty="0">
                          <a:solidFill>
                            <a:schemeClr val="tx1"/>
                          </a:solidFill>
                        </a:rPr>
                        <a:t>10_break_continue  (17 quads)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29 tree nodes, 9 labels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at most 8 unfilled jumps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4"/>
                    </a:solidFill>
                  </a:tcPr>
                </a:tc>
              </a:tr>
              <a:tr h="502920">
                <a:tc>
                  <a:txBody>
                    <a:bodyPr/>
                    <a:lstStyle/>
                    <a:p>
                      <a:pPr indent="0" marL="0">
                        <a:buNone/>
                      </a:pPr>
                      <a:r>
                        <a:rPr lang="en-US" sz="1500" b="1" dirty="0">
                          <a:solidFill>
                            <a:schemeClr val="tx1"/>
                          </a:solidFill>
                        </a:rPr>
                        <a:t>14_nested_loops  (18 quads)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32 tree nodes, 11 labels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at most 7 unfilled jumps</a:t>
                      </a:r>
                      <a:endParaRPr lang="en-US" sz="1500" dirty="0"/>
                    </a:p>
                  </a:txBody>
                  <a:tcPr marL="127000" marR="127000" marT="76200" marB="76200"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accent4"/>
                    </a:solidFill>
                  </a:tcPr>
                </a:tc>
              </a:tr>
            </a:tbl>
          </a:graphicData>
        </a:graphic>
      </p:graphicFrame>
      <p:sp>
        <p:nvSpPr>
          <p:cNvPr id="4" name="gap statement"/>
          <p:cNvSpPr/>
          <p:nvPr/>
        </p:nvSpPr>
        <p:spPr>
          <a:xfrm>
            <a:off x="548640" y="4572000"/>
            <a:ext cx="11064240" cy="1417320"/>
          </a:xfrm>
          <a:prstGeom prst="roundRect">
            <a:avLst>
              <a:gd name="adj" fmla="val 6452"/>
            </a:avLst>
          </a:prstGeom>
          <a:solidFill>
            <a:schemeClr val="accent3"/>
          </a:solidFill>
          <a:ln/>
        </p:spPr>
      </p:sp>
      <p:sp>
        <p:nvSpPr>
          <p:cNvPr id="5" name="Text 2"/>
          <p:cNvSpPr txBox="1"/>
          <p:nvPr/>
        </p:nvSpPr>
        <p:spPr>
          <a:xfrm>
            <a:off x="868680" y="4754880"/>
            <a:ext cx="10424160" cy="1097280"/>
          </a:xfrm>
          <a:prstGeom prst="rect">
            <a:avLst/>
          </a:prstGeom>
          <a:noFill/>
          <a:ln/>
        </p:spPr>
        <p:txBody>
          <a:bodyPr wrap="square" lIns="0" tIns="0" rIns="0" bIns="0" rtlCol="0" anchor="ctr"/>
          <a:lstStyle/>
          <a:p>
            <a:pPr indent="0" marL="0">
              <a:buNone/>
            </a:pPr>
            <a:pPr indent="0" marL="0">
              <a:buNone/>
            </a:pPr>
            <a:r>
              <a:rPr lang="en-US" sz="1600" b="1" dirty="0">
                <a:solidFill>
                  <a:schemeClr val="accent2"/>
                </a:solidFill>
              </a:rPr>
              <a:t>Result  </a:t>
            </a:r>
            <a:r>
              <a:rPr lang="en-US" sz="1600" dirty="0">
                <a:solidFill>
                  <a:schemeClr val="tx1"/>
                </a:solidFill>
              </a:rPr>
              <a:t>Both programs print identical output, error messages included, for all 16 test programs run through both, which cross-checks every semantic action. Backpatching holds only the jumps still waiting for a target; the two-pass compiler holds the whole program until its labels are resolved.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Timeline: implementation complete</a:t>
            </a:r>
            <a:endParaRPr lang="en-US" sz="3400" dirty="0"/>
          </a:p>
        </p:txBody>
      </p:sp>
      <p:sp>
        <p:nvSpPr>
          <p:cNvPr id="3" name="Shape 1"/>
          <p:cNvSpPr/>
          <p:nvPr/>
        </p:nvSpPr>
        <p:spPr>
          <a:xfrm>
            <a:off x="1783080" y="1874520"/>
            <a:ext cx="8503920" cy="0"/>
          </a:xfrm>
          <a:prstGeom prst="line">
            <a:avLst/>
          </a:prstGeom>
          <a:noFill/>
          <a:ln w="19050">
            <a:solidFill>
              <a:srgbClr val="4A5568"/>
            </a:solidFill>
            <a:prstDash val="solid"/>
          </a:ln>
        </p:spPr>
      </p:sp>
      <p:sp>
        <p:nvSpPr>
          <p:cNvPr id="4" name="milestone Review 1"/>
          <p:cNvSpPr/>
          <p:nvPr/>
        </p:nvSpPr>
        <p:spPr>
          <a:xfrm>
            <a:off x="1600200" y="1691640"/>
            <a:ext cx="365760" cy="365760"/>
          </a:xfrm>
          <a:prstGeom prst="ellipse">
            <a:avLst/>
          </a:prstGeom>
          <a:solidFill>
            <a:schemeClr val="accent1"/>
          </a:solidFill>
          <a:ln w="25400">
            <a:solidFill>
              <a:srgbClr val="E09F3E"/>
            </a:solidFill>
            <a:prstDash val="solid"/>
          </a:ln>
        </p:spPr>
      </p:sp>
      <p:sp>
        <p:nvSpPr>
          <p:cNvPr id="5" name="phase Review 1"/>
          <p:cNvSpPr/>
          <p:nvPr/>
        </p:nvSpPr>
        <p:spPr>
          <a:xfrm>
            <a:off x="502920" y="2377440"/>
            <a:ext cx="2560320" cy="3108960"/>
          </a:xfrm>
          <a:prstGeom prst="roundRect">
            <a:avLst>
              <a:gd name="adj" fmla="val 3571"/>
            </a:avLst>
          </a:prstGeom>
          <a:solidFill>
            <a:schemeClr val="accent4"/>
          </a:solidFill>
          <a:ln/>
        </p:spPr>
      </p:sp>
      <p:sp>
        <p:nvSpPr>
          <p:cNvPr id="6" name="Text 4"/>
          <p:cNvSpPr txBox="1"/>
          <p:nvPr/>
        </p:nvSpPr>
        <p:spPr>
          <a:xfrm>
            <a:off x="685800" y="2560320"/>
            <a:ext cx="2194560" cy="411480"/>
          </a:xfrm>
          <a:prstGeom prst="rect">
            <a:avLst/>
          </a:prstGeom>
          <a:noFill/>
          <a:ln/>
        </p:spPr>
        <p:txBody>
          <a:bodyPr wrap="square" lIns="0" tIns="0" rIns="0" bIns="0" rtlCol="0" anchor="t"/>
          <a:lstStyle/>
          <a:p>
            <a:pPr indent="0" marL="0">
              <a:buNone/>
            </a:pPr>
            <a:r>
              <a:rPr lang="en-US" sz="2000" b="1" dirty="0">
                <a:solidFill>
                  <a:schemeClr val="tx1"/>
                </a:solidFill>
              </a:rPr>
              <a:t>Review 1</a:t>
            </a:r>
            <a:endParaRPr lang="en-US" sz="2000" dirty="0"/>
          </a:p>
        </p:txBody>
      </p:sp>
      <p:sp>
        <p:nvSpPr>
          <p:cNvPr id="7" name="Text 5"/>
          <p:cNvSpPr txBox="1"/>
          <p:nvPr/>
        </p:nvSpPr>
        <p:spPr>
          <a:xfrm>
            <a:off x="685800" y="2971800"/>
            <a:ext cx="2194560" cy="320040"/>
          </a:xfrm>
          <a:prstGeom prst="rect">
            <a:avLst/>
          </a:prstGeom>
          <a:noFill/>
          <a:ln/>
        </p:spPr>
        <p:txBody>
          <a:bodyPr wrap="square" lIns="0" tIns="0" rIns="0" bIns="0" rtlCol="0" anchor="t"/>
          <a:lstStyle/>
          <a:p>
            <a:pPr indent="0" marL="0">
              <a:buNone/>
            </a:pPr>
            <a:r>
              <a:rPr lang="en-US" sz="1400" b="1" dirty="0">
                <a:solidFill>
                  <a:schemeClr val="accent2"/>
                </a:solidFill>
              </a:rPr>
              <a:t>Oct 9  ·  done</a:t>
            </a:r>
            <a:endParaRPr lang="en-US" sz="1400" dirty="0"/>
          </a:p>
        </p:txBody>
      </p:sp>
      <p:sp>
        <p:nvSpPr>
          <p:cNvPr id="8" name="Text 6"/>
          <p:cNvSpPr txBox="1"/>
          <p:nvPr/>
        </p:nvSpPr>
        <p:spPr>
          <a:xfrm>
            <a:off x="685800" y="3429000"/>
            <a:ext cx="2194560" cy="1920240"/>
          </a:xfrm>
          <a:prstGeom prst="rect">
            <a:avLst/>
          </a:prstGeom>
          <a:noFill/>
          <a:ln/>
        </p:spPr>
        <p:txBody>
          <a:bodyPr wrap="square" lIns="0" tIns="0" rIns="0" bIns="0" rtlCol="0" anchor="t"/>
          <a:lstStyle/>
          <a:p>
            <a:pPr indent="0" marL="0">
              <a:buNone/>
            </a:pPr>
            <a:r>
              <a:rPr lang="en-US" sz="1500" dirty="0">
                <a:solidFill>
                  <a:schemeClr val="tx2"/>
                </a:solidFill>
              </a:rPr>
              <a:t>Lexer, full grammar, quad table, patch lists; assign + if</a:t>
            </a:r>
            <a:endParaRPr lang="en-US" sz="1500" dirty="0"/>
          </a:p>
        </p:txBody>
      </p:sp>
      <p:sp>
        <p:nvSpPr>
          <p:cNvPr id="9" name="milestone Review 2"/>
          <p:cNvSpPr/>
          <p:nvPr/>
        </p:nvSpPr>
        <p:spPr>
          <a:xfrm>
            <a:off x="4434840" y="1691640"/>
            <a:ext cx="365760" cy="365760"/>
          </a:xfrm>
          <a:prstGeom prst="ellipse">
            <a:avLst/>
          </a:prstGeom>
          <a:solidFill>
            <a:schemeClr val="accent1"/>
          </a:solidFill>
          <a:ln w="25400">
            <a:solidFill>
              <a:srgbClr val="E09F3E"/>
            </a:solidFill>
            <a:prstDash val="solid"/>
          </a:ln>
        </p:spPr>
      </p:sp>
      <p:sp>
        <p:nvSpPr>
          <p:cNvPr id="10" name="phase Review 2"/>
          <p:cNvSpPr/>
          <p:nvPr/>
        </p:nvSpPr>
        <p:spPr>
          <a:xfrm>
            <a:off x="3337560" y="2377440"/>
            <a:ext cx="2560320" cy="3108960"/>
          </a:xfrm>
          <a:prstGeom prst="roundRect">
            <a:avLst>
              <a:gd name="adj" fmla="val 3571"/>
            </a:avLst>
          </a:prstGeom>
          <a:solidFill>
            <a:schemeClr val="accent4"/>
          </a:solidFill>
          <a:ln/>
        </p:spPr>
      </p:sp>
      <p:sp>
        <p:nvSpPr>
          <p:cNvPr id="11" name="Text 9"/>
          <p:cNvSpPr txBox="1"/>
          <p:nvPr/>
        </p:nvSpPr>
        <p:spPr>
          <a:xfrm>
            <a:off x="3520440" y="2560320"/>
            <a:ext cx="2194560" cy="411480"/>
          </a:xfrm>
          <a:prstGeom prst="rect">
            <a:avLst/>
          </a:prstGeom>
          <a:noFill/>
          <a:ln/>
        </p:spPr>
        <p:txBody>
          <a:bodyPr wrap="square" lIns="0" tIns="0" rIns="0" bIns="0" rtlCol="0" anchor="t"/>
          <a:lstStyle/>
          <a:p>
            <a:pPr indent="0" marL="0">
              <a:buNone/>
            </a:pPr>
            <a:r>
              <a:rPr lang="en-US" sz="2000" b="1" dirty="0">
                <a:solidFill>
                  <a:schemeClr val="tx1"/>
                </a:solidFill>
              </a:rPr>
              <a:t>Review 2</a:t>
            </a:r>
            <a:endParaRPr lang="en-US" sz="2000" dirty="0"/>
          </a:p>
        </p:txBody>
      </p:sp>
      <p:sp>
        <p:nvSpPr>
          <p:cNvPr id="12" name="Text 10"/>
          <p:cNvSpPr txBox="1"/>
          <p:nvPr/>
        </p:nvSpPr>
        <p:spPr>
          <a:xfrm>
            <a:off x="3520440" y="2971800"/>
            <a:ext cx="2194560" cy="320040"/>
          </a:xfrm>
          <a:prstGeom prst="rect">
            <a:avLst/>
          </a:prstGeom>
          <a:noFill/>
          <a:ln/>
        </p:spPr>
        <p:txBody>
          <a:bodyPr wrap="square" lIns="0" tIns="0" rIns="0" bIns="0" rtlCol="0" anchor="t"/>
          <a:lstStyle/>
          <a:p>
            <a:pPr indent="0" marL="0">
              <a:buNone/>
            </a:pPr>
            <a:r>
              <a:rPr lang="en-US" sz="1400" b="1" dirty="0">
                <a:solidFill>
                  <a:schemeClr val="accent2"/>
                </a:solidFill>
              </a:rPr>
              <a:t>Oct 16  ·  code done</a:t>
            </a:r>
            <a:endParaRPr lang="en-US" sz="1400" dirty="0"/>
          </a:p>
        </p:txBody>
      </p:sp>
      <p:sp>
        <p:nvSpPr>
          <p:cNvPr id="13" name="Text 11"/>
          <p:cNvSpPr txBox="1"/>
          <p:nvPr/>
        </p:nvSpPr>
        <p:spPr>
          <a:xfrm>
            <a:off x="3520440" y="3429000"/>
            <a:ext cx="2194560" cy="1920240"/>
          </a:xfrm>
          <a:prstGeom prst="rect">
            <a:avLst/>
          </a:prstGeom>
          <a:noFill/>
          <a:ln/>
        </p:spPr>
        <p:txBody>
          <a:bodyPr wrap="square" lIns="0" tIns="0" rIns="0" bIns="0" rtlCol="0" anchor="t"/>
          <a:lstStyle/>
          <a:p>
            <a:pPr indent="0" marL="0">
              <a:buNone/>
            </a:pPr>
            <a:r>
              <a:rPr lang="en-US" sz="1500" dirty="0">
                <a:solidFill>
                  <a:schemeClr val="tx2"/>
                </a:solidFill>
              </a:rPr>
              <a:t>if-else, while, &amp;&amp; || !, nesting, errors; --trace mode</a:t>
            </a:r>
            <a:endParaRPr lang="en-US" sz="1500" dirty="0"/>
          </a:p>
        </p:txBody>
      </p:sp>
      <p:sp>
        <p:nvSpPr>
          <p:cNvPr id="14" name="milestone Review 3"/>
          <p:cNvSpPr/>
          <p:nvPr/>
        </p:nvSpPr>
        <p:spPr>
          <a:xfrm>
            <a:off x="7269480" y="1691640"/>
            <a:ext cx="365760" cy="365760"/>
          </a:xfrm>
          <a:prstGeom prst="ellipse">
            <a:avLst/>
          </a:prstGeom>
          <a:solidFill>
            <a:schemeClr val="accent1"/>
          </a:solidFill>
          <a:ln w="25400">
            <a:solidFill>
              <a:srgbClr val="E09F3E"/>
            </a:solidFill>
            <a:prstDash val="solid"/>
          </a:ln>
        </p:spPr>
      </p:sp>
      <p:sp>
        <p:nvSpPr>
          <p:cNvPr id="15" name="phase Review 3"/>
          <p:cNvSpPr/>
          <p:nvPr/>
        </p:nvSpPr>
        <p:spPr>
          <a:xfrm>
            <a:off x="6172200" y="2377440"/>
            <a:ext cx="2560320" cy="3108960"/>
          </a:xfrm>
          <a:prstGeom prst="roundRect">
            <a:avLst>
              <a:gd name="adj" fmla="val 3571"/>
            </a:avLst>
          </a:prstGeom>
          <a:solidFill>
            <a:schemeClr val="accent4"/>
          </a:solidFill>
          <a:ln/>
        </p:spPr>
      </p:sp>
      <p:sp>
        <p:nvSpPr>
          <p:cNvPr id="16" name="Text 14"/>
          <p:cNvSpPr txBox="1"/>
          <p:nvPr/>
        </p:nvSpPr>
        <p:spPr>
          <a:xfrm>
            <a:off x="6355080" y="2560320"/>
            <a:ext cx="2194560" cy="411480"/>
          </a:xfrm>
          <a:prstGeom prst="rect">
            <a:avLst/>
          </a:prstGeom>
          <a:noFill/>
          <a:ln/>
        </p:spPr>
        <p:txBody>
          <a:bodyPr wrap="square" lIns="0" tIns="0" rIns="0" bIns="0" rtlCol="0" anchor="t"/>
          <a:lstStyle/>
          <a:p>
            <a:pPr indent="0" marL="0">
              <a:buNone/>
            </a:pPr>
            <a:r>
              <a:rPr lang="en-US" sz="2000" b="1" dirty="0">
                <a:solidFill>
                  <a:schemeClr val="tx1"/>
                </a:solidFill>
              </a:rPr>
              <a:t>Review 3</a:t>
            </a:r>
            <a:endParaRPr lang="en-US" sz="2000" dirty="0"/>
          </a:p>
        </p:txBody>
      </p:sp>
      <p:sp>
        <p:nvSpPr>
          <p:cNvPr id="17" name="Text 15"/>
          <p:cNvSpPr txBox="1"/>
          <p:nvPr/>
        </p:nvSpPr>
        <p:spPr>
          <a:xfrm>
            <a:off x="6355080" y="2971800"/>
            <a:ext cx="2194560" cy="320040"/>
          </a:xfrm>
          <a:prstGeom prst="rect">
            <a:avLst/>
          </a:prstGeom>
          <a:noFill/>
          <a:ln/>
        </p:spPr>
        <p:txBody>
          <a:bodyPr wrap="square" lIns="0" tIns="0" rIns="0" bIns="0" rtlCol="0" anchor="t"/>
          <a:lstStyle/>
          <a:p>
            <a:pPr indent="0" marL="0">
              <a:buNone/>
            </a:pPr>
            <a:r>
              <a:rPr lang="en-US" sz="1400" b="1" dirty="0">
                <a:solidFill>
                  <a:schemeClr val="accent2"/>
                </a:solidFill>
              </a:rPr>
              <a:t>Oct 23  ·  code done</a:t>
            </a:r>
            <a:endParaRPr lang="en-US" sz="1400" dirty="0"/>
          </a:p>
        </p:txBody>
      </p:sp>
      <p:sp>
        <p:nvSpPr>
          <p:cNvPr id="18" name="Text 16"/>
          <p:cNvSpPr txBox="1"/>
          <p:nvPr/>
        </p:nvSpPr>
        <p:spPr>
          <a:xfrm>
            <a:off x="6355080" y="3429000"/>
            <a:ext cx="2194560" cy="1920240"/>
          </a:xfrm>
          <a:prstGeom prst="rect">
            <a:avLst/>
          </a:prstGeom>
          <a:noFill/>
          <a:ln/>
        </p:spPr>
        <p:txBody>
          <a:bodyPr wrap="square" lIns="0" tIns="0" rIns="0" bIns="0" rtlCol="0" anchor="t"/>
          <a:lstStyle/>
          <a:p>
            <a:pPr indent="0" marL="0">
              <a:buNone/>
            </a:pPr>
            <a:r>
              <a:rPr lang="en-US" sz="1500" dirty="0">
                <a:solidFill>
                  <a:schemeClr val="tx2"/>
                </a:solidFill>
              </a:rPr>
              <a:t>do-while, for, break / continue; --step; two-pass comparison; manuscript</a:t>
            </a:r>
            <a:endParaRPr lang="en-US" sz="1500" dirty="0"/>
          </a:p>
        </p:txBody>
      </p:sp>
      <p:sp>
        <p:nvSpPr>
          <p:cNvPr id="19" name="milestone VTOP"/>
          <p:cNvSpPr/>
          <p:nvPr/>
        </p:nvSpPr>
        <p:spPr>
          <a:xfrm>
            <a:off x="10104120" y="1691640"/>
            <a:ext cx="365760" cy="365760"/>
          </a:xfrm>
          <a:prstGeom prst="ellipse">
            <a:avLst/>
          </a:prstGeom>
          <a:solidFill>
            <a:schemeClr val="bg1"/>
          </a:solidFill>
          <a:ln w="25400">
            <a:solidFill>
              <a:srgbClr val="4A5568"/>
            </a:solidFill>
            <a:prstDash val="solid"/>
          </a:ln>
        </p:spPr>
      </p:sp>
      <p:sp>
        <p:nvSpPr>
          <p:cNvPr id="20" name="phase VTOP"/>
          <p:cNvSpPr/>
          <p:nvPr/>
        </p:nvSpPr>
        <p:spPr>
          <a:xfrm>
            <a:off x="9006840" y="2377440"/>
            <a:ext cx="2560320" cy="3108960"/>
          </a:xfrm>
          <a:prstGeom prst="roundRect">
            <a:avLst>
              <a:gd name="adj" fmla="val 3571"/>
            </a:avLst>
          </a:prstGeom>
          <a:solidFill>
            <a:schemeClr val="bg2"/>
          </a:solidFill>
          <a:ln/>
        </p:spPr>
      </p:sp>
      <p:sp>
        <p:nvSpPr>
          <p:cNvPr id="21" name="Text 19"/>
          <p:cNvSpPr txBox="1"/>
          <p:nvPr/>
        </p:nvSpPr>
        <p:spPr>
          <a:xfrm>
            <a:off x="9189720" y="2560320"/>
            <a:ext cx="2194560" cy="411480"/>
          </a:xfrm>
          <a:prstGeom prst="rect">
            <a:avLst/>
          </a:prstGeom>
          <a:noFill/>
          <a:ln/>
        </p:spPr>
        <p:txBody>
          <a:bodyPr wrap="square" lIns="0" tIns="0" rIns="0" bIns="0" rtlCol="0" anchor="t"/>
          <a:lstStyle/>
          <a:p>
            <a:pPr indent="0" marL="0">
              <a:buNone/>
            </a:pPr>
            <a:r>
              <a:rPr lang="en-US" sz="2000" b="1" dirty="0">
                <a:solidFill>
                  <a:schemeClr val="tx1"/>
                </a:solidFill>
              </a:rPr>
              <a:t>VTOP</a:t>
            </a:r>
            <a:endParaRPr lang="en-US" sz="2000" dirty="0"/>
          </a:p>
        </p:txBody>
      </p:sp>
      <p:sp>
        <p:nvSpPr>
          <p:cNvPr id="22" name="Text 20"/>
          <p:cNvSpPr txBox="1"/>
          <p:nvPr/>
        </p:nvSpPr>
        <p:spPr>
          <a:xfrm>
            <a:off x="9189720" y="2971800"/>
            <a:ext cx="2194560" cy="320040"/>
          </a:xfrm>
          <a:prstGeom prst="rect">
            <a:avLst/>
          </a:prstGeom>
          <a:noFill/>
          <a:ln/>
        </p:spPr>
        <p:txBody>
          <a:bodyPr wrap="square" lIns="0" tIns="0" rIns="0" bIns="0" rtlCol="0" anchor="t"/>
          <a:lstStyle/>
          <a:p>
            <a:pPr indent="0" marL="0">
              <a:buNone/>
            </a:pPr>
            <a:r>
              <a:rPr lang="en-US" sz="1400" b="1" dirty="0">
                <a:solidFill>
                  <a:schemeClr val="accent2"/>
                </a:solidFill>
              </a:rPr>
              <a:t>Oct 30</a:t>
            </a:r>
            <a:endParaRPr lang="en-US" sz="1400" dirty="0"/>
          </a:p>
        </p:txBody>
      </p:sp>
      <p:sp>
        <p:nvSpPr>
          <p:cNvPr id="23" name="Text 21"/>
          <p:cNvSpPr txBox="1"/>
          <p:nvPr/>
        </p:nvSpPr>
        <p:spPr>
          <a:xfrm>
            <a:off x="9189720" y="3429000"/>
            <a:ext cx="2194560" cy="1920240"/>
          </a:xfrm>
          <a:prstGeom prst="rect">
            <a:avLst/>
          </a:prstGeom>
          <a:noFill/>
          <a:ln/>
        </p:spPr>
        <p:txBody>
          <a:bodyPr wrap="square" lIns="0" tIns="0" rIns="0" bIns="0" rtlCol="0" anchor="t"/>
          <a:lstStyle/>
          <a:p>
            <a:pPr indent="0" marL="0">
              <a:buNone/>
            </a:pPr>
            <a:r>
              <a:rPr lang="en-US" sz="1500" dirty="0">
                <a:solidFill>
                  <a:schemeClr val="tx2"/>
                </a:solidFill>
              </a:rPr>
              <a:t>Final report and PPT uploaded</a:t>
            </a:r>
            <a:endParaRPr lang="en-US" sz="1500" dirty="0"/>
          </a:p>
        </p:txBody>
      </p:sp>
      <p:sp>
        <p:nvSpPr>
          <p:cNvPr id="24" name="Text 22"/>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500" i="1" dirty="0">
                <a:solidFill>
                  <a:schemeClr val="tx2"/>
                </a:solidFill>
              </a:rPr>
              <a:t>Novelty: --trace and --step show every makelist, merge and backpatch as it happens, inside the Flex and Bison program itself.</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ICG Backpatching">
  <a:themeElements>
    <a:clrScheme name="ICG Backpatching">
      <a:dk1>
        <a:srgbClr val="1B2433"/>
      </a:dk1>
      <a:lt1>
        <a:srgbClr val="FFFFFF"/>
      </a:lt1>
      <a:dk2>
        <a:srgbClr val="4A5568"/>
      </a:dk2>
      <a:lt2>
        <a:srgbClr val="EEF2F6"/>
      </a:lt2>
      <a:accent1>
        <a:srgbClr val="E09F3E"/>
      </a:accent1>
      <a:accent2>
        <a:srgbClr val="2A7F8F"/>
      </a:accent2>
      <a:accent3>
        <a:srgbClr val="D3E7EA"/>
      </a:accent3>
      <a:accent4>
        <a:srgbClr val="FBEBD2"/>
      </a:accent4>
      <a:accent5>
        <a:srgbClr val="7A8699"/>
      </a:accent5>
      <a:accent6>
        <a:srgbClr val="B4432F"/>
      </a:accent6>
      <a:hlink>
        <a:srgbClr val="2A7F8F"/>
      </a:hlink>
      <a:folHlink>
        <a:srgbClr val="4A5568"/>
      </a:folHlink>
    </a:clrScheme>
    <a:fontScheme name="ICG Backpat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ICG with Backpatching - Review 1</dc:title>
  <dc:subject>PptxGenJS Presentation</dc:subject>
  <dc:creator>Prithvi Raghu, Jai Narayan Jayaprakash Jayanthi, Divyanshu Pal</dc:creator>
  <cp:lastModifiedBy>Prithvi Raghu, Jai Narayan Jayaprakash Jayanthi, Divyanshu Pal</cp:lastModifiedBy>
  <cp:revision>1</cp:revision>
  <dcterms:created xsi:type="dcterms:W3CDTF">2026-10-08T09:26:58Z</dcterms:created>
  <dcterms:modified xsi:type="dcterms:W3CDTF">2026-10-08T09:26:58Z</dcterms:modified>
</cp:coreProperties>
</file>